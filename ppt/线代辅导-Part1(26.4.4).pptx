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4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6" r:id="rId2"/>
    <p:sldId id="286" r:id="rId3"/>
    <p:sldId id="256" r:id="rId4"/>
    <p:sldId id="257" r:id="rId5"/>
    <p:sldId id="261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75" r:id="rId15"/>
    <p:sldId id="268" r:id="rId16"/>
    <p:sldId id="267" r:id="rId17"/>
    <p:sldId id="269" r:id="rId18"/>
    <p:sldId id="271" r:id="rId19"/>
    <p:sldId id="272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1543"/>
    <a:srgbClr val="4C21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592" autoAdjust="0"/>
  </p:normalViewPr>
  <p:slideViewPr>
    <p:cSldViewPr snapToGrid="0">
      <p:cViewPr varScale="1">
        <p:scale>
          <a:sx n="19" d="100"/>
          <a:sy n="19" d="100"/>
        </p:scale>
        <p:origin x="53" y="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47E69-19FA-4CB8-8297-57ABAF383038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7A0A9-BF48-49B9-A29D-3174C8DA09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232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名词使用以</a:t>
            </a:r>
            <a:r>
              <a:rPr lang="en-US" altLang="zh-CN" dirty="0"/>
              <a:t>《</a:t>
            </a:r>
            <a:r>
              <a:rPr lang="zh-CN" altLang="en-US" dirty="0"/>
              <a:t>简明线性代数</a:t>
            </a:r>
            <a:r>
              <a:rPr lang="en-US" altLang="zh-CN" dirty="0"/>
              <a:t>》</a:t>
            </a:r>
            <a:r>
              <a:rPr lang="zh-CN" altLang="en-US" dirty="0"/>
              <a:t>为标准。向量空间是指在</a:t>
            </a:r>
            <a:r>
              <a:rPr lang="en-US" altLang="zh-CN" dirty="0"/>
              <a:t>n</a:t>
            </a:r>
            <a:r>
              <a:rPr lang="zh-CN" altLang="en-US" dirty="0"/>
              <a:t>维数组（数来自于数域）构成的集合上规定数组的加法和数乘所构成的线性空间</a:t>
            </a:r>
            <a:r>
              <a:rPr lang="en-US" altLang="zh-CN" dirty="0" err="1"/>
              <a:t>K^n</a:t>
            </a:r>
            <a:r>
              <a:rPr lang="zh-CN" altLang="en-US" dirty="0"/>
              <a:t>。在其他地方，向量空间与线性空间可能是同义词。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7A0A9-BF48-49B9-A29D-3174C8DA09D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135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7A0A9-BF48-49B9-A29D-3174C8DA09D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9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线性变换</a:t>
            </a:r>
            <a:r>
              <a:rPr lang="en-US" altLang="zh-CN" dirty="0"/>
              <a:t>=</a:t>
            </a:r>
            <a:r>
              <a:rPr lang="zh-CN" altLang="en-US" dirty="0"/>
              <a:t>从一个空间到自身的线性映射（如图所示皆为</a:t>
            </a:r>
            <a:r>
              <a:rPr lang="en-US" altLang="zh-CN" dirty="0"/>
              <a:t>R^2</a:t>
            </a:r>
            <a:r>
              <a:rPr lang="zh-CN" altLang="en-US" dirty="0"/>
              <a:t>→</a:t>
            </a:r>
            <a:r>
              <a:rPr lang="en-US" altLang="zh-CN" dirty="0"/>
              <a:t>R^2</a:t>
            </a:r>
            <a:r>
              <a:rPr lang="zh-CN" altLang="en-US" dirty="0"/>
              <a:t>的线性变换）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7A0A9-BF48-49B9-A29D-3174C8DA09D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088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7A0A9-BF48-49B9-A29D-3174C8DA09D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04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B326A-83FA-B83D-9EE2-494AA34D8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459E1E-D8F1-9309-2782-0361E03BE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667128-810B-1F54-01D2-B497A6117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E39364-ACC9-CA04-202F-F8519BB85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D57ADD-F9FA-6F3B-6C6F-DB3119E12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461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DAA0C-57F6-ED73-2AEA-40B68A736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A72A5F-7D25-7CC4-F5CE-C32F82BA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A5231C-6DDE-D341-11C9-C5820FD5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481D57-30CD-F492-D122-6783FD14C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9F328E-40CE-4BD2-FBC9-86DD51BB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52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6FB81-F72B-2001-EA17-E2480A2FD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9BF193-0B02-4C8C-B16D-604A6C7EA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F1ABD6-B441-C141-3C80-71AA4472F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063BAF-877D-C365-A6EA-EFC58943A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F89BE8-75DA-F421-2B5A-A43CB983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298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98A35-F457-1EB4-C0AA-32E739404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AC9AA-B13B-A1D3-DA01-61F826582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3D6DE8-3275-4ED5-FBC1-B713235A5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A7405F-BBEC-CAB3-AB3C-FDA262F1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0F0BA3-BD50-CF61-21BE-364FB6C9A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D3DDD2-A123-E338-3BFB-C0B03E0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41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ACD0C-5074-56BD-AB91-248CF7347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24055D-D949-5220-1600-CFEA21813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B1183C-524D-E096-34C8-6FB2AE4FC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74E466-C2C1-1E02-D3F6-3FBB7C9D57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41578E-8D2E-7B26-457F-4808CFAE2C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58870C8-AADE-D57D-F8E0-62E8013B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450D9B9-E6DA-3F30-A300-0FE73B87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DCFB07-4AE1-6BEB-251E-2C9FF2A7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49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1330C-8CDA-AC69-A7F6-094934059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038417-B5BC-9B1C-20CC-DC7881AB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ACB849-8DFD-C7CB-3D95-1AC0F35A0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7BDC2F-4255-BE11-295E-0F81568AB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96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7F24A4-1774-FD43-3EDC-ABBAE45C2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7150C1C-CF2D-ACB8-14FC-A4A1744B3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5F1E06-3213-B5C6-B242-2513505CD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63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4F7F4-FBA2-D5B0-20CA-09DF0D5F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882659-EB13-76DC-D70B-28C31D8B9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985194-D317-86B1-CE85-BC323A9F6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111627-6E1D-DE45-6466-8CD4B6DC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84F075-A4A0-B2A5-EE6E-3B69B910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7A3844-B2B6-C942-EE05-FB7CAC11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56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C3408-1F55-8854-E8AA-10F33A6E1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C1C509-1011-CBD0-5EDB-E69C5933E2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73D895-1427-C272-4E64-2654581F3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0DD75F-39B1-4885-3779-6E9FBEA0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BE290D-98F2-02D7-5371-BA1420984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5B4DBF-EF60-E726-C81D-C4EC5DC9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210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32C752-1B51-D109-3034-8961DA083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569E59-F8AF-AA55-F41D-E42DE7773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4AF6FF-3543-256D-8612-4C2F424D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E33E6F-E27C-CD76-DB4B-31A85D2DA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68F9A0-1CD2-CFC5-32DE-8308CD67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76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34BD213-287C-B19E-AFDB-0D09344778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916C44-6E81-0627-5B8C-9838F29CE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BFCA91-6CD3-C67A-FE4F-2252B4FB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BA20E6-DA0C-77C2-821D-45510156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E8AAA7-7271-D286-22E8-81C33B5A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92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559BBE-A2CC-42BF-FE53-539F156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AA0754-0FD5-CA3C-5285-0688EB240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AA4768-FAF9-7878-F4DC-77ECC89DF6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2552E4-E095-C326-9EB7-48D25E97D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95BC13-8DCE-3FF9-8F41-F2DC1E5ED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317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9.png"/><Relationship Id="rId26" Type="http://schemas.openxmlformats.org/officeDocument/2006/relationships/image" Target="../media/image17.png"/><Relationship Id="rId3" Type="http://schemas.openxmlformats.org/officeDocument/2006/relationships/tags" Target="../tags/tag3.xml"/><Relationship Id="rId21" Type="http://schemas.openxmlformats.org/officeDocument/2006/relationships/image" Target="../media/image12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8.png"/><Relationship Id="rId25" Type="http://schemas.openxmlformats.org/officeDocument/2006/relationships/image" Target="../media/image16.png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11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5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14.png"/><Relationship Id="rId10" Type="http://schemas.openxmlformats.org/officeDocument/2006/relationships/tags" Target="../tags/tag10.xml"/><Relationship Id="rId19" Type="http://schemas.openxmlformats.org/officeDocument/2006/relationships/image" Target="../media/image10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image" Target="../media/image9.png"/><Relationship Id="rId3" Type="http://schemas.openxmlformats.org/officeDocument/2006/relationships/tags" Target="../tags/tag19.xml"/><Relationship Id="rId21" Type="http://schemas.openxmlformats.org/officeDocument/2006/relationships/image" Target="../media/image12.png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image" Target="../media/image8.png"/><Relationship Id="rId2" Type="http://schemas.openxmlformats.org/officeDocument/2006/relationships/tags" Target="../tags/tag18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11.png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23" Type="http://schemas.openxmlformats.org/officeDocument/2006/relationships/image" Target="../media/image15.png"/><Relationship Id="rId10" Type="http://schemas.openxmlformats.org/officeDocument/2006/relationships/tags" Target="../tags/tag26.xml"/><Relationship Id="rId19" Type="http://schemas.openxmlformats.org/officeDocument/2006/relationships/image" Target="../media/image10.png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Relationship Id="rId22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18" Type="http://schemas.openxmlformats.org/officeDocument/2006/relationships/image" Target="../media/image17.png"/><Relationship Id="rId26" Type="http://schemas.openxmlformats.org/officeDocument/2006/relationships/image" Target="../media/image14.png"/><Relationship Id="rId3" Type="http://schemas.openxmlformats.org/officeDocument/2006/relationships/tags" Target="../tags/tag35.xml"/><Relationship Id="rId21" Type="http://schemas.openxmlformats.org/officeDocument/2006/relationships/image" Target="../media/image9.png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17" Type="http://schemas.openxmlformats.org/officeDocument/2006/relationships/image" Target="../media/image16.png"/><Relationship Id="rId25" Type="http://schemas.openxmlformats.org/officeDocument/2006/relationships/image" Target="../media/image13.png"/><Relationship Id="rId2" Type="http://schemas.openxmlformats.org/officeDocument/2006/relationships/tags" Target="../tags/tag34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8.png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24" Type="http://schemas.openxmlformats.org/officeDocument/2006/relationships/image" Target="../media/image12.png"/><Relationship Id="rId5" Type="http://schemas.openxmlformats.org/officeDocument/2006/relationships/tags" Target="../tags/tag37.xml"/><Relationship Id="rId15" Type="http://schemas.openxmlformats.org/officeDocument/2006/relationships/tags" Target="../tags/tag47.xml"/><Relationship Id="rId23" Type="http://schemas.openxmlformats.org/officeDocument/2006/relationships/image" Target="../media/image11.png"/><Relationship Id="rId10" Type="http://schemas.openxmlformats.org/officeDocument/2006/relationships/tags" Target="../tags/tag42.xml"/><Relationship Id="rId19" Type="http://schemas.openxmlformats.org/officeDocument/2006/relationships/image" Target="../media/image32.png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tags" Target="../tags/tag46.xml"/><Relationship Id="rId22" Type="http://schemas.openxmlformats.org/officeDocument/2006/relationships/image" Target="../media/image10.png"/><Relationship Id="rId27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18" Type="http://schemas.openxmlformats.org/officeDocument/2006/relationships/image" Target="../media/image8.png"/><Relationship Id="rId26" Type="http://schemas.openxmlformats.org/officeDocument/2006/relationships/image" Target="../media/image36.png"/><Relationship Id="rId3" Type="http://schemas.openxmlformats.org/officeDocument/2006/relationships/tags" Target="../tags/tag50.xml"/><Relationship Id="rId21" Type="http://schemas.openxmlformats.org/officeDocument/2006/relationships/image" Target="../media/image11.png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17" Type="http://schemas.openxmlformats.org/officeDocument/2006/relationships/slideLayout" Target="../slideLayouts/slideLayout1.xml"/><Relationship Id="rId25" Type="http://schemas.openxmlformats.org/officeDocument/2006/relationships/image" Target="../media/image35.png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20" Type="http://schemas.openxmlformats.org/officeDocument/2006/relationships/image" Target="../media/image10.png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24" Type="http://schemas.openxmlformats.org/officeDocument/2006/relationships/image" Target="../media/image15.png"/><Relationship Id="rId5" Type="http://schemas.openxmlformats.org/officeDocument/2006/relationships/tags" Target="../tags/tag52.xml"/><Relationship Id="rId15" Type="http://schemas.openxmlformats.org/officeDocument/2006/relationships/tags" Target="../tags/tag62.xml"/><Relationship Id="rId23" Type="http://schemas.openxmlformats.org/officeDocument/2006/relationships/image" Target="../media/image21.png"/><Relationship Id="rId10" Type="http://schemas.openxmlformats.org/officeDocument/2006/relationships/tags" Target="../tags/tag57.xml"/><Relationship Id="rId19" Type="http://schemas.openxmlformats.org/officeDocument/2006/relationships/image" Target="../media/image9.png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Relationship Id="rId22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04CAA-F447-DB5B-D206-C1766EC03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>
            <a:extLst>
              <a:ext uri="{FF2B5EF4-FFF2-40B4-BE49-F238E27FC236}">
                <a16:creationId xmlns:a16="http://schemas.microsoft.com/office/drawing/2014/main" id="{E30A66F9-1FB7-CFB1-C628-668FB893BA77}"/>
              </a:ext>
            </a:extLst>
          </p:cNvPr>
          <p:cNvSpPr txBox="1"/>
          <p:nvPr/>
        </p:nvSpPr>
        <p:spPr>
          <a:xfrm>
            <a:off x="301310" y="955095"/>
            <a:ext cx="5227052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春线性代数学业辅导</a:t>
            </a:r>
            <a:endParaRPr lang="en-US" altLang="zh-CN" sz="32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文本框 5">
            <a:extLst>
              <a:ext uri="{FF2B5EF4-FFF2-40B4-BE49-F238E27FC236}">
                <a16:creationId xmlns:a16="http://schemas.microsoft.com/office/drawing/2014/main" id="{8D39E0C9-1AE4-9FF5-BC13-9C33982A4F44}"/>
              </a:ext>
            </a:extLst>
          </p:cNvPr>
          <p:cNvSpPr txBox="1"/>
          <p:nvPr/>
        </p:nvSpPr>
        <p:spPr>
          <a:xfrm>
            <a:off x="1908732" y="1690489"/>
            <a:ext cx="2012208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2026.4.4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E90964D-8117-040F-7079-5940B1981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237" y="477712"/>
            <a:ext cx="5919785" cy="590257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90C6450-BCCD-403F-EA5B-1E8E8C12FEA6}"/>
              </a:ext>
            </a:extLst>
          </p:cNvPr>
          <p:cNvSpPr/>
          <p:nvPr/>
        </p:nvSpPr>
        <p:spPr>
          <a:xfrm>
            <a:off x="387724" y="799995"/>
            <a:ext cx="5054224" cy="15816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471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D2884-971A-224F-D35F-1D3E5BC38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F99155F-921C-A351-51DC-B584F5EC8142}"/>
              </a:ext>
            </a:extLst>
          </p:cNvPr>
          <p:cNvSpPr txBox="1"/>
          <p:nvPr/>
        </p:nvSpPr>
        <p:spPr>
          <a:xfrm>
            <a:off x="1063258" y="508970"/>
            <a:ext cx="4082902" cy="2328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Part 1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向量空间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向量空间及其线性子空间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线性方程组，维数公式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行列式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线性子空间的运算，矩阵的运算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7DDF344-FD6E-F4D0-EAD5-122F51711E16}"/>
              </a:ext>
            </a:extLst>
          </p:cNvPr>
          <p:cNvSpPr txBox="1"/>
          <p:nvPr/>
        </p:nvSpPr>
        <p:spPr>
          <a:xfrm>
            <a:off x="1063258" y="3758608"/>
            <a:ext cx="4455040" cy="2328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Part 2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线性空间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线性映射与坐标变换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特征值与特征向量，相似标准型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二次型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内积空间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04F3C7-DD2B-E73B-91A1-F35E08935710}"/>
              </a:ext>
            </a:extLst>
          </p:cNvPr>
          <p:cNvSpPr/>
          <p:nvPr/>
        </p:nvSpPr>
        <p:spPr>
          <a:xfrm>
            <a:off x="5752619" y="973614"/>
            <a:ext cx="5540414" cy="167698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6C298C-16E0-432D-16F1-9A0A7B923978}"/>
              </a:ext>
            </a:extLst>
          </p:cNvPr>
          <p:cNvSpPr txBox="1"/>
          <p:nvPr/>
        </p:nvSpPr>
        <p:spPr>
          <a:xfrm>
            <a:off x="5924309" y="1054637"/>
            <a:ext cx="5197033" cy="1405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在向量空间中，线性映射与矩阵是等同的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线性映射、矩阵、向量组、线性方程组是对同一个问题的不同“翻译”方式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6160215-3F39-78A1-0617-BED1DB6D09C3}"/>
              </a:ext>
            </a:extLst>
          </p:cNvPr>
          <p:cNvCxnSpPr>
            <a:cxnSpLocks/>
          </p:cNvCxnSpPr>
          <p:nvPr/>
        </p:nvCxnSpPr>
        <p:spPr>
          <a:xfrm>
            <a:off x="956841" y="3394276"/>
            <a:ext cx="4043423" cy="0"/>
          </a:xfrm>
          <a:prstGeom prst="line">
            <a:avLst/>
          </a:prstGeom>
          <a:ln w="31750">
            <a:solidFill>
              <a:srgbClr val="2F154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4FF2B46F-649F-797A-EC4A-9B48F82235CD}"/>
              </a:ext>
            </a:extLst>
          </p:cNvPr>
          <p:cNvSpPr/>
          <p:nvPr/>
        </p:nvSpPr>
        <p:spPr>
          <a:xfrm>
            <a:off x="5752619" y="4207398"/>
            <a:ext cx="5540414" cy="167698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4FDF3D4-1E69-5D55-F74D-9032B1F098E1}"/>
              </a:ext>
            </a:extLst>
          </p:cNvPr>
          <p:cNvCxnSpPr>
            <a:cxnSpLocks/>
          </p:cNvCxnSpPr>
          <p:nvPr/>
        </p:nvCxnSpPr>
        <p:spPr>
          <a:xfrm>
            <a:off x="8526683" y="2837493"/>
            <a:ext cx="0" cy="120207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741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6C33D3E-6AC2-479C-B6D9-71E8D2ECC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855" y="524432"/>
            <a:ext cx="10421792" cy="37467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56E7E57-30FE-4D57-9945-BA38744F6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655" y="4271150"/>
            <a:ext cx="10017992" cy="204939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5853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E5BE6-3AC1-44F4-2EC7-4AD9C4529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图片 181">
            <a:extLst>
              <a:ext uri="{FF2B5EF4-FFF2-40B4-BE49-F238E27FC236}">
                <a16:creationId xmlns:a16="http://schemas.microsoft.com/office/drawing/2014/main" id="{2760D2AD-EDFF-CD2A-8B48-FC82AE2F1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73" y="3736296"/>
            <a:ext cx="3419376" cy="14066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A23F4DBD-5172-CCA9-43E5-D985B61C8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51" y="382501"/>
            <a:ext cx="8075347" cy="6030825"/>
          </a:xfrm>
          <a:prstGeom prst="rect">
            <a:avLst/>
          </a:prstGeom>
        </p:spPr>
      </p:pic>
      <p:sp>
        <p:nvSpPr>
          <p:cNvPr id="185" name="文本框 184">
            <a:extLst>
              <a:ext uri="{FF2B5EF4-FFF2-40B4-BE49-F238E27FC236}">
                <a16:creationId xmlns:a16="http://schemas.microsoft.com/office/drawing/2014/main" id="{C7DA7AB2-44AF-8A6A-C4B2-1F235DB368A7}"/>
              </a:ext>
            </a:extLst>
          </p:cNvPr>
          <p:cNvSpPr txBox="1"/>
          <p:nvPr/>
        </p:nvSpPr>
        <p:spPr>
          <a:xfrm>
            <a:off x="8505173" y="2305306"/>
            <a:ext cx="333146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线性映射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500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</a:p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用线性方程组表示的映射</a:t>
            </a:r>
          </a:p>
        </p:txBody>
      </p:sp>
    </p:spTree>
    <p:extLst>
      <p:ext uri="{BB962C8B-B14F-4D97-AF65-F5344CB8AC3E}">
        <p14:creationId xmlns:p14="http://schemas.microsoft.com/office/powerpoint/2010/main" val="3787585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F38BB-2588-A231-1E79-B1EF1D1D2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5A1730CA-2EE0-88BD-7044-ECBBE90292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0957"/>
          <a:stretch>
            <a:fillRect/>
          </a:stretch>
        </p:blipFill>
        <p:spPr>
          <a:xfrm>
            <a:off x="886363" y="128381"/>
            <a:ext cx="4172532" cy="114927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7C7F720-B082-DF04-B690-A69147B55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37" y="2075413"/>
            <a:ext cx="10832926" cy="465420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E02CE14-5B51-35CC-1FE1-6CDD6049B1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624"/>
          <a:stretch>
            <a:fillRect/>
          </a:stretch>
        </p:blipFill>
        <p:spPr>
          <a:xfrm>
            <a:off x="886363" y="1064712"/>
            <a:ext cx="4172532" cy="112965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660F333-6D11-0060-188B-3418686C25FC}"/>
              </a:ext>
            </a:extLst>
          </p:cNvPr>
          <p:cNvSpPr txBox="1"/>
          <p:nvPr/>
        </p:nvSpPr>
        <p:spPr>
          <a:xfrm>
            <a:off x="6634619" y="6544849"/>
            <a:ext cx="609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Molles M C J .Ecology: Concepts and Applications[J].McGraw-Hill, 1999.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74A491-32B3-4C25-D5C7-258AC757D8F5}"/>
              </a:ext>
            </a:extLst>
          </p:cNvPr>
          <p:cNvSpPr txBox="1"/>
          <p:nvPr/>
        </p:nvSpPr>
        <p:spPr>
          <a:xfrm>
            <a:off x="5935522" y="1077599"/>
            <a:ext cx="3747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Lotka-Volterra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两物种竞争模型</a:t>
            </a:r>
          </a:p>
        </p:txBody>
      </p:sp>
    </p:spTree>
    <p:extLst>
      <p:ext uri="{BB962C8B-B14F-4D97-AF65-F5344CB8AC3E}">
        <p14:creationId xmlns:p14="http://schemas.microsoft.com/office/powerpoint/2010/main" val="3474715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41249-44FF-066F-1D12-9D5DB81F5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矩形 173">
            <a:extLst>
              <a:ext uri="{FF2B5EF4-FFF2-40B4-BE49-F238E27FC236}">
                <a16:creationId xmlns:a16="http://schemas.microsoft.com/office/drawing/2014/main" id="{4BD03EF0-BD3E-3F70-A906-4BAD1531F793}"/>
              </a:ext>
            </a:extLst>
          </p:cNvPr>
          <p:cNvSpPr/>
          <p:nvPr/>
        </p:nvSpPr>
        <p:spPr>
          <a:xfrm rot="3496957">
            <a:off x="9033599" y="2551422"/>
            <a:ext cx="1902650" cy="1534734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16F16FB-28D2-BED5-0EDB-D5CA021FC708}"/>
              </a:ext>
            </a:extLst>
          </p:cNvPr>
          <p:cNvGrpSpPr/>
          <p:nvPr/>
        </p:nvGrpSpPr>
        <p:grpSpPr>
          <a:xfrm>
            <a:off x="762653" y="871526"/>
            <a:ext cx="2492294" cy="2569628"/>
            <a:chOff x="350494" y="2892206"/>
            <a:chExt cx="2811908" cy="2899159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932D7415-96E6-416B-7CB9-12875EA5A91D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C8AF9B0A-73EA-0D46-9864-4B23CFA20F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图片 4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402CFB78-3FBA-3C98-974B-866482E4D1E8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5F2A7D5-1CA4-BEF4-AE7B-6A469B31DC64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6162B5B4-A095-DACD-44D2-38DE33768A99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BEFF6D5B-0125-8162-C666-1B82D7C2E4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FC3BB32F-BEA6-CF06-A814-87EE8CE5C999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474FDF7A-5FB7-19B7-8182-52C734A139A8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AFD08F64-9119-7D49-7278-C70276D352FB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02ADFD2-B510-E83D-98CD-545CEA352F69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2C976A3-CF58-E0EA-9C60-3B4875F1E5AD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66D9C20-A471-FB8A-DABC-B0A231D2BF6E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1FF0F31-BEE0-F605-1A27-6CDB0CBAF78B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56121203-6A0E-6C24-214D-2CDEFA48FDAC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C8CEA790-D959-22BC-DAB8-2DB0A1A302A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25207DE-AC1F-BD25-A4AC-7D2EAECC6D18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19" name="图片 18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B98C61C1-A20E-C268-6E9B-8E2ED21E0339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20" name="图片 19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FD4A8553-6B24-5AEC-004B-268F278E622C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21" name="图片 20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7E397349-3E0A-6492-035D-A8C0342B45CE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5BB92ED-30FE-B562-6777-1C6F68973B80}"/>
              </a:ext>
            </a:extLst>
          </p:cNvPr>
          <p:cNvGrpSpPr/>
          <p:nvPr/>
        </p:nvGrpSpPr>
        <p:grpSpPr>
          <a:xfrm>
            <a:off x="4413675" y="816714"/>
            <a:ext cx="3065589" cy="3214430"/>
            <a:chOff x="3847931" y="381450"/>
            <a:chExt cx="3458723" cy="3626652"/>
          </a:xfrm>
        </p:grpSpPr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FAEBDCD8-353A-AE4D-4E6C-DF981CD65A12}"/>
                </a:ext>
              </a:extLst>
            </p:cNvPr>
            <p:cNvCxnSpPr>
              <a:cxnSpLocks/>
            </p:cNvCxnSpPr>
            <p:nvPr/>
          </p:nvCxnSpPr>
          <p:spPr>
            <a:xfrm>
              <a:off x="3847931" y="2730009"/>
              <a:ext cx="3355531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F264D8C0-C07E-7A13-BE6D-EC597A4D72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7382" y="514643"/>
              <a:ext cx="0" cy="3493459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图片 27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5E67F447-4234-2C56-B303-38FB31BB4C78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1390" y="2853220"/>
              <a:ext cx="245264" cy="164632"/>
            </a:xfrm>
            <a:prstGeom prst="rect">
              <a:avLst/>
            </a:prstGeom>
          </p:spPr>
        </p:pic>
        <p:pic>
          <p:nvPicPr>
            <p:cNvPr id="29" name="图片 28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15813DCC-A674-DCC6-90BB-67957BA33F3A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8409" y="381450"/>
              <a:ext cx="251987" cy="164632"/>
            </a:xfrm>
            <a:prstGeom prst="rect">
              <a:avLst/>
            </a:prstGeom>
          </p:spPr>
        </p:pic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A29565C-A1CE-63FD-0E51-B3B9155DF1A6}"/>
                </a:ext>
              </a:extLst>
            </p:cNvPr>
            <p:cNvSpPr/>
            <p:nvPr/>
          </p:nvSpPr>
          <p:spPr>
            <a:xfrm>
              <a:off x="4376640" y="994355"/>
              <a:ext cx="1622924" cy="1731550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44450">
              <a:solidFill>
                <a:srgbClr val="00B0F0">
                  <a:alpha val="1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75665EDA-224D-6D49-5406-24CC99C748DE}"/>
                </a:ext>
              </a:extLst>
            </p:cNvPr>
            <p:cNvCxnSpPr/>
            <p:nvPr/>
          </p:nvCxnSpPr>
          <p:spPr>
            <a:xfrm>
              <a:off x="4376639" y="2728228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4238A7A8-1DCD-D6FC-099A-D1E28BEB75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6293" y="967522"/>
              <a:ext cx="0" cy="1770885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C6DF3189-A45B-F4EE-D6F7-EBB4009189D9}"/>
                </a:ext>
              </a:extLst>
            </p:cNvPr>
            <p:cNvCxnSpPr>
              <a:cxnSpLocks/>
            </p:cNvCxnSpPr>
            <p:nvPr/>
          </p:nvCxnSpPr>
          <p:spPr>
            <a:xfrm>
              <a:off x="4361423" y="2728222"/>
              <a:ext cx="1638165" cy="0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BDE80036-F484-0F13-FA7B-D23D08979CCE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480960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F65D1926-8297-89D2-E99D-1ECC7E66DEE4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23601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图片 35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9478EABD-C2F4-04D9-7C6D-AC143A19F50B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361" y="2853239"/>
              <a:ext cx="193188" cy="203267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C3D34A6D-85EC-1C74-FA81-A45D4DC6C5A9}"/>
                </a:ext>
              </a:extLst>
            </p:cNvPr>
            <p:cNvSpPr/>
            <p:nvPr/>
          </p:nvSpPr>
          <p:spPr>
            <a:xfrm rot="34111">
              <a:off x="5944556" y="1321087"/>
              <a:ext cx="156770" cy="15677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D37C28EE-EF0E-7886-ABE7-4664E29F1236}"/>
                </a:ext>
              </a:extLst>
            </p:cNvPr>
            <p:cNvGrpSpPr/>
            <p:nvPr/>
          </p:nvGrpSpPr>
          <p:grpSpPr>
            <a:xfrm>
              <a:off x="4351257" y="963599"/>
              <a:ext cx="2198771" cy="1770885"/>
              <a:chOff x="4351238" y="1015426"/>
              <a:chExt cx="2198770" cy="1770885"/>
            </a:xfrm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0A29D72A-1599-D29C-D5BA-214443FD7445}"/>
                  </a:ext>
                </a:extLst>
              </p:cNvPr>
              <p:cNvGrpSpPr/>
              <p:nvPr/>
            </p:nvGrpSpPr>
            <p:grpSpPr>
              <a:xfrm>
                <a:off x="4376292" y="1045548"/>
                <a:ext cx="2150462" cy="1731550"/>
                <a:chOff x="4376292" y="1045548"/>
                <a:chExt cx="2150462" cy="1731550"/>
              </a:xfrm>
            </p:grpSpPr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BABD45D-A827-D55E-C41B-FDC5B3EA3488}"/>
                    </a:ext>
                  </a:extLst>
                </p:cNvPr>
                <p:cNvSpPr/>
                <p:nvPr/>
              </p:nvSpPr>
              <p:spPr>
                <a:xfrm>
                  <a:off x="4376293" y="1045548"/>
                  <a:ext cx="2146648" cy="1731550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  <a:ln w="44450">
                  <a:solidFill>
                    <a:srgbClr val="0070C0">
                      <a:alpha val="25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 dirty="0"/>
                </a:p>
              </p:txBody>
            </p: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75452414-59FF-1050-A474-ADACA5E57CAE}"/>
                    </a:ext>
                  </a:extLst>
                </p:cNvPr>
                <p:cNvCxnSpPr/>
                <p:nvPr/>
              </p:nvCxnSpPr>
              <p:spPr>
                <a:xfrm>
                  <a:off x="4376292" y="106314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0DCDA54C-98A8-13A2-84EB-F53BFAB1231C}"/>
                    </a:ext>
                  </a:extLst>
                </p:cNvPr>
                <p:cNvCxnSpPr/>
                <p:nvPr/>
              </p:nvCxnSpPr>
              <p:spPr>
                <a:xfrm>
                  <a:off x="4376292" y="277709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B6518794-D1B9-1D1A-CD44-00BD36717247}"/>
                    </a:ext>
                  </a:extLst>
                </p:cNvPr>
                <p:cNvCxnSpPr/>
                <p:nvPr/>
              </p:nvCxnSpPr>
              <p:spPr>
                <a:xfrm>
                  <a:off x="4378195" y="1308085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73F1EB41-A013-6DB1-35CB-BEB7DFAD42CD}"/>
                    </a:ext>
                  </a:extLst>
                </p:cNvPr>
                <p:cNvCxnSpPr/>
                <p:nvPr/>
              </p:nvCxnSpPr>
              <p:spPr>
                <a:xfrm>
                  <a:off x="4376292" y="1553027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76F6E172-2793-67EE-7B91-35928966FD2B}"/>
                    </a:ext>
                  </a:extLst>
                </p:cNvPr>
                <p:cNvCxnSpPr/>
                <p:nvPr/>
              </p:nvCxnSpPr>
              <p:spPr>
                <a:xfrm>
                  <a:off x="4376638" y="1797969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>
                  <a:extLst>
                    <a:ext uri="{FF2B5EF4-FFF2-40B4-BE49-F238E27FC236}">
                      <a16:creationId xmlns:a16="http://schemas.microsoft.com/office/drawing/2014/main" id="{A0D7E33D-7355-9914-29E7-34694A12A3B3}"/>
                    </a:ext>
                  </a:extLst>
                </p:cNvPr>
                <p:cNvCxnSpPr/>
                <p:nvPr/>
              </p:nvCxnSpPr>
              <p:spPr>
                <a:xfrm>
                  <a:off x="4376293" y="204291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BE7C77BA-A4F6-7916-6486-71D4EF569CBA}"/>
                    </a:ext>
                  </a:extLst>
                </p:cNvPr>
                <p:cNvCxnSpPr/>
                <p:nvPr/>
              </p:nvCxnSpPr>
              <p:spPr>
                <a:xfrm>
                  <a:off x="4376638" y="228785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>
                  <a:extLst>
                    <a:ext uri="{FF2B5EF4-FFF2-40B4-BE49-F238E27FC236}">
                      <a16:creationId xmlns:a16="http://schemas.microsoft.com/office/drawing/2014/main" id="{F1C786D5-DF1E-9614-012D-7C9052A650A3}"/>
                    </a:ext>
                  </a:extLst>
                </p:cNvPr>
                <p:cNvCxnSpPr/>
                <p:nvPr/>
              </p:nvCxnSpPr>
              <p:spPr>
                <a:xfrm>
                  <a:off x="4380103" y="2532800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C0F2EAD3-7DA9-AA84-3A00-B5CDACB604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1238" y="2779638"/>
                <a:ext cx="2198770" cy="0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>
                <a:extLst>
                  <a:ext uri="{FF2B5EF4-FFF2-40B4-BE49-F238E27FC236}">
                    <a16:creationId xmlns:a16="http://schemas.microsoft.com/office/drawing/2014/main" id="{B36DD1F2-68AB-D7B2-74BC-8D9DDDF1CA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76292" y="1015426"/>
                <a:ext cx="0" cy="177088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94A8D55D-6C77-4CDB-9E0D-FEFC3C7989C3}"/>
                </a:ext>
              </a:extLst>
            </p:cNvPr>
            <p:cNvSpPr/>
            <p:nvPr/>
          </p:nvSpPr>
          <p:spPr>
            <a:xfrm>
              <a:off x="5516812" y="1321055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0BA41254-F0E1-148C-6796-FEF22A56C134}"/>
              </a:ext>
            </a:extLst>
          </p:cNvPr>
          <p:cNvGrpSpPr/>
          <p:nvPr/>
        </p:nvGrpSpPr>
        <p:grpSpPr>
          <a:xfrm>
            <a:off x="7211410" y="1755656"/>
            <a:ext cx="971570" cy="509500"/>
            <a:chOff x="7211409" y="1362116"/>
            <a:chExt cx="1096165" cy="574839"/>
          </a:xfrm>
        </p:grpSpPr>
        <p:pic>
          <p:nvPicPr>
            <p:cNvPr id="148" name="图片 147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4433BFF7-E555-B4EE-77BA-0B35ADA2AEC6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1409" y="1646433"/>
              <a:ext cx="1096165" cy="290522"/>
            </a:xfrm>
            <a:prstGeom prst="rect">
              <a:avLst/>
            </a:prstGeom>
          </p:spPr>
        </p:pic>
        <p:pic>
          <p:nvPicPr>
            <p:cNvPr id="149" name="图片 148" descr="\documentclass{article}&#10;\usepackage{amsmath}&#10;\pagestyle{empty}&#10;\begin{document}&#10;&#10;$B$&#10;&#10;&#10;\end{document}" title="IguanaTex Bitmap Display">
              <a:extLst>
                <a:ext uri="{FF2B5EF4-FFF2-40B4-BE49-F238E27FC236}">
                  <a16:creationId xmlns:a16="http://schemas.microsoft.com/office/drawing/2014/main" id="{EEE39DA0-78B6-AC42-57FE-427FC5ED4DDD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2503" y="1362116"/>
              <a:ext cx="274286" cy="258286"/>
            </a:xfrm>
            <a:prstGeom prst="rect">
              <a:avLst/>
            </a:prstGeom>
          </p:spPr>
        </p:pic>
      </p:grp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BE308173-CFB4-E8B1-11CD-5C5A67607AE8}"/>
              </a:ext>
            </a:extLst>
          </p:cNvPr>
          <p:cNvCxnSpPr>
            <a:cxnSpLocks/>
          </p:cNvCxnSpPr>
          <p:nvPr/>
        </p:nvCxnSpPr>
        <p:spPr>
          <a:xfrm>
            <a:off x="8354969" y="2914041"/>
            <a:ext cx="3316332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F78AB50A-1FF8-470A-2590-C11071B6D1F6}"/>
              </a:ext>
            </a:extLst>
          </p:cNvPr>
          <p:cNvCxnSpPr>
            <a:cxnSpLocks/>
          </p:cNvCxnSpPr>
          <p:nvPr/>
        </p:nvCxnSpPr>
        <p:spPr>
          <a:xfrm flipV="1">
            <a:off x="8824240" y="950483"/>
            <a:ext cx="0" cy="3096377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" name="图片 153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581F03A8-50BC-AAEE-2865-CB9E55AD7EA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7281" y="3023245"/>
            <a:ext cx="217386" cy="145919"/>
          </a:xfrm>
          <a:prstGeom prst="rect">
            <a:avLst/>
          </a:prstGeom>
        </p:spPr>
      </p:pic>
      <p:pic>
        <p:nvPicPr>
          <p:cNvPr id="155" name="图片 154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2CD608B9-0CEA-B251-F24D-90C140E710C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932" y="842744"/>
            <a:ext cx="223345" cy="145919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9AA1082A-8A03-1849-E9E1-1A09AD53A92B}"/>
              </a:ext>
            </a:extLst>
          </p:cNvPr>
          <p:cNvSpPr/>
          <p:nvPr/>
        </p:nvSpPr>
        <p:spPr>
          <a:xfrm>
            <a:off x="8823582" y="1375667"/>
            <a:ext cx="1438455" cy="1534734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84DA466F-7CB0-B96E-A828-2463A2E26AF1}"/>
              </a:ext>
            </a:extLst>
          </p:cNvPr>
          <p:cNvCxnSpPr>
            <a:cxnSpLocks/>
          </p:cNvCxnSpPr>
          <p:nvPr/>
        </p:nvCxnSpPr>
        <p:spPr>
          <a:xfrm>
            <a:off x="8823582" y="2912461"/>
            <a:ext cx="1438455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41A4452F-28CE-9A66-EF28-06B6C6C545CA}"/>
              </a:ext>
            </a:extLst>
          </p:cNvPr>
          <p:cNvCxnSpPr>
            <a:cxnSpLocks/>
          </p:cNvCxnSpPr>
          <p:nvPr/>
        </p:nvCxnSpPr>
        <p:spPr>
          <a:xfrm flipV="1">
            <a:off x="8828677" y="1351883"/>
            <a:ext cx="0" cy="1569598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4B8B0534-D73D-5C5E-0038-D408B36D4109}"/>
              </a:ext>
            </a:extLst>
          </p:cNvPr>
          <p:cNvCxnSpPr>
            <a:cxnSpLocks/>
          </p:cNvCxnSpPr>
          <p:nvPr/>
        </p:nvCxnSpPr>
        <p:spPr>
          <a:xfrm>
            <a:off x="8810094" y="2912456"/>
            <a:ext cx="1451964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EF825082-D29B-4B04-246A-9E387B483475}"/>
              </a:ext>
            </a:extLst>
          </p:cNvPr>
          <p:cNvCxnSpPr>
            <a:cxnSpLocks/>
          </p:cNvCxnSpPr>
          <p:nvPr/>
        </p:nvCxnSpPr>
        <p:spPr>
          <a:xfrm>
            <a:off x="8841590" y="1402701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C3AFD249-D8C5-7A3C-60F0-638D3B2875CE}"/>
              </a:ext>
            </a:extLst>
          </p:cNvPr>
          <p:cNvCxnSpPr>
            <a:cxnSpLocks/>
          </p:cNvCxnSpPr>
          <p:nvPr/>
        </p:nvCxnSpPr>
        <p:spPr>
          <a:xfrm>
            <a:off x="8841590" y="2693299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7493735C-C89A-6C3B-E919-82C09DBCC6FB}"/>
              </a:ext>
            </a:extLst>
          </p:cNvPr>
          <p:cNvCxnSpPr>
            <a:cxnSpLocks/>
          </p:cNvCxnSpPr>
          <p:nvPr/>
        </p:nvCxnSpPr>
        <p:spPr>
          <a:xfrm>
            <a:off x="8841590" y="2476198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0ADBD68A-D1F5-C2C0-56FD-67D0DE71AE45}"/>
              </a:ext>
            </a:extLst>
          </p:cNvPr>
          <p:cNvCxnSpPr>
            <a:cxnSpLocks/>
          </p:cNvCxnSpPr>
          <p:nvPr/>
        </p:nvCxnSpPr>
        <p:spPr>
          <a:xfrm>
            <a:off x="8841590" y="1838683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81A307E9-60AC-7434-EF77-5890130A04FA}"/>
              </a:ext>
            </a:extLst>
          </p:cNvPr>
          <p:cNvCxnSpPr>
            <a:cxnSpLocks/>
          </p:cNvCxnSpPr>
          <p:nvPr/>
        </p:nvCxnSpPr>
        <p:spPr>
          <a:xfrm>
            <a:off x="8841590" y="2272720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16BD28BE-6644-803F-18ED-BEBF9F55A924}"/>
              </a:ext>
            </a:extLst>
          </p:cNvPr>
          <p:cNvCxnSpPr>
            <a:cxnSpLocks/>
          </p:cNvCxnSpPr>
          <p:nvPr/>
        </p:nvCxnSpPr>
        <p:spPr>
          <a:xfrm>
            <a:off x="8841590" y="1619196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9DACF8F9-1049-2288-B982-58FC5E66127D}"/>
              </a:ext>
            </a:extLst>
          </p:cNvPr>
          <p:cNvCxnSpPr>
            <a:cxnSpLocks/>
          </p:cNvCxnSpPr>
          <p:nvPr/>
        </p:nvCxnSpPr>
        <p:spPr>
          <a:xfrm>
            <a:off x="8841590" y="2054693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44FEB1B7-FDA5-63C8-AEF3-211D7235860F}"/>
              </a:ext>
            </a:extLst>
          </p:cNvPr>
          <p:cNvCxnSpPr>
            <a:cxnSpLocks/>
          </p:cNvCxnSpPr>
          <p:nvPr/>
        </p:nvCxnSpPr>
        <p:spPr>
          <a:xfrm rot="3495345" flipV="1">
            <a:off x="9486543" y="1727233"/>
            <a:ext cx="3315" cy="155399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91F0D435-0585-F186-D78C-09453ABB1FCF}"/>
              </a:ext>
            </a:extLst>
          </p:cNvPr>
          <p:cNvCxnSpPr>
            <a:cxnSpLocks/>
          </p:cNvCxnSpPr>
          <p:nvPr/>
        </p:nvCxnSpPr>
        <p:spPr>
          <a:xfrm rot="34111">
            <a:off x="8816580" y="2916617"/>
            <a:ext cx="1019102" cy="1615253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椭圆 168">
            <a:extLst>
              <a:ext uri="{FF2B5EF4-FFF2-40B4-BE49-F238E27FC236}">
                <a16:creationId xmlns:a16="http://schemas.microsoft.com/office/drawing/2014/main" id="{AF8B0F64-10C8-44FD-2700-CEE565132C07}"/>
              </a:ext>
            </a:extLst>
          </p:cNvPr>
          <p:cNvSpPr/>
          <p:nvPr/>
        </p:nvSpPr>
        <p:spPr>
          <a:xfrm rot="34111">
            <a:off x="10504217" y="3457556"/>
            <a:ext cx="138951" cy="13895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212" name="图片 211" descr="\documentclass{article}&#10;\usepackage{amsmath}&#10;\pagestyle{empty}&#10;\begin{document}&#10;&#10;$(z_1,z_2)$&#10;&#10;&#10;\end{document}" title="IguanaTex Bitmap Display">
            <a:extLst>
              <a:ext uri="{FF2B5EF4-FFF2-40B4-BE49-F238E27FC236}">
                <a16:creationId xmlns:a16="http://schemas.microsoft.com/office/drawing/2014/main" id="{1740182A-E4D4-05D1-CEDA-35559492FDA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818" y="3414250"/>
            <a:ext cx="705762" cy="248653"/>
          </a:xfrm>
          <a:prstGeom prst="rect">
            <a:avLst/>
          </a:prstGeom>
        </p:spPr>
      </p:pic>
      <p:pic>
        <p:nvPicPr>
          <p:cNvPr id="171" name="图片 170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91157EBA-D2B0-59D6-33D2-6E8A1418E8B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747" y="3028193"/>
            <a:ext cx="171229" cy="180163"/>
          </a:xfrm>
          <a:prstGeom prst="rect">
            <a:avLst/>
          </a:prstGeom>
        </p:spPr>
      </p:pic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328D6A3C-CB56-55F4-0980-57FC7247C135}"/>
              </a:ext>
            </a:extLst>
          </p:cNvPr>
          <p:cNvCxnSpPr/>
          <p:nvPr/>
        </p:nvCxnSpPr>
        <p:spPr>
          <a:xfrm rot="3496957">
            <a:off x="9665993" y="2912070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52104AD2-30C8-FF16-60AB-A35616FBEF32}"/>
              </a:ext>
            </a:extLst>
          </p:cNvPr>
          <p:cNvCxnSpPr/>
          <p:nvPr/>
        </p:nvCxnSpPr>
        <p:spPr>
          <a:xfrm rot="3496957">
            <a:off x="8373735" y="3710726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58D78FC3-1EA4-6DB6-B5AF-1D8CEA8FCBCA}"/>
              </a:ext>
            </a:extLst>
          </p:cNvPr>
          <p:cNvCxnSpPr/>
          <p:nvPr/>
        </p:nvCxnSpPr>
        <p:spPr>
          <a:xfrm rot="3496957">
            <a:off x="9482202" y="3027641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9C591330-BB38-F6C1-1D6F-A740D54A825B}"/>
              </a:ext>
            </a:extLst>
          </p:cNvPr>
          <p:cNvCxnSpPr/>
          <p:nvPr/>
        </p:nvCxnSpPr>
        <p:spPr>
          <a:xfrm rot="3496957">
            <a:off x="9296639" y="3140342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353E1739-6EFC-924A-A9B2-48909DE6D214}"/>
              </a:ext>
            </a:extLst>
          </p:cNvPr>
          <p:cNvCxnSpPr/>
          <p:nvPr/>
        </p:nvCxnSpPr>
        <p:spPr>
          <a:xfrm rot="3496957">
            <a:off x="9112123" y="3254740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41FC6468-D5DF-FB3E-F4DB-7FCF9ADB8DB9}"/>
              </a:ext>
            </a:extLst>
          </p:cNvPr>
          <p:cNvCxnSpPr/>
          <p:nvPr/>
        </p:nvCxnSpPr>
        <p:spPr>
          <a:xfrm rot="3496957">
            <a:off x="8927283" y="3368617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BE67B705-4067-4910-E9DA-1B091B0A3E1E}"/>
              </a:ext>
            </a:extLst>
          </p:cNvPr>
          <p:cNvCxnSpPr/>
          <p:nvPr/>
        </p:nvCxnSpPr>
        <p:spPr>
          <a:xfrm rot="3496957">
            <a:off x="8742765" y="3483015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47CA6B99-06E0-EBCA-FD0B-E9CBD8BB5392}"/>
              </a:ext>
            </a:extLst>
          </p:cNvPr>
          <p:cNvCxnSpPr/>
          <p:nvPr/>
        </p:nvCxnSpPr>
        <p:spPr>
          <a:xfrm rot="3496957">
            <a:off x="8559702" y="3599763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椭圆 172">
            <a:extLst>
              <a:ext uri="{FF2B5EF4-FFF2-40B4-BE49-F238E27FC236}">
                <a16:creationId xmlns:a16="http://schemas.microsoft.com/office/drawing/2014/main" id="{546FDBC8-4E51-B21B-4601-7C3E7FB3AA6B}"/>
              </a:ext>
            </a:extLst>
          </p:cNvPr>
          <p:cNvSpPr/>
          <p:nvPr/>
        </p:nvSpPr>
        <p:spPr>
          <a:xfrm>
            <a:off x="9834166" y="1675873"/>
            <a:ext cx="138951" cy="13895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A083587E-75EC-10E0-057B-6265CE9FC470}"/>
              </a:ext>
            </a:extLst>
          </p:cNvPr>
          <p:cNvGrpSpPr/>
          <p:nvPr/>
        </p:nvGrpSpPr>
        <p:grpSpPr>
          <a:xfrm>
            <a:off x="3289587" y="1767398"/>
            <a:ext cx="971570" cy="509500"/>
            <a:chOff x="5943782" y="6570580"/>
            <a:chExt cx="1096165" cy="574839"/>
          </a:xfrm>
        </p:grpSpPr>
        <p:pic>
          <p:nvPicPr>
            <p:cNvPr id="188" name="图片 187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C1579D55-6156-9637-8F28-CB1148B3CD9C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3782" y="6854897"/>
              <a:ext cx="1096165" cy="290522"/>
            </a:xfrm>
            <a:prstGeom prst="rect">
              <a:avLst/>
            </a:prstGeom>
          </p:spPr>
        </p:pic>
        <p:pic>
          <p:nvPicPr>
            <p:cNvPr id="192" name="图片 191" descr="\documentclass{article}&#10;\usepackage{amsmath}&#10;\pagestyle{empty}&#10;\begin{document}&#10;&#10;$A$&#10;&#10;&#10;\end{document}" title="IguanaTex Bitmap Display">
              <a:extLst>
                <a:ext uri="{FF2B5EF4-FFF2-40B4-BE49-F238E27FC236}">
                  <a16:creationId xmlns:a16="http://schemas.microsoft.com/office/drawing/2014/main" id="{4237769B-422F-90C4-CDA4-CE07248EA9F8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4877" y="6570580"/>
              <a:ext cx="262857" cy="272000"/>
            </a:xfrm>
            <a:prstGeom prst="rect">
              <a:avLst/>
            </a:prstGeom>
          </p:spPr>
        </p:pic>
      </p:grpSp>
      <p:pic>
        <p:nvPicPr>
          <p:cNvPr id="195" name="图片 194">
            <a:extLst>
              <a:ext uri="{FF2B5EF4-FFF2-40B4-BE49-F238E27FC236}">
                <a16:creationId xmlns:a16="http://schemas.microsoft.com/office/drawing/2014/main" id="{133719AB-121D-9F51-66FE-0661BEAF339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10187" y="4639193"/>
            <a:ext cx="1648055" cy="1362265"/>
          </a:xfrm>
          <a:prstGeom prst="rect">
            <a:avLst/>
          </a:prstGeom>
        </p:spPr>
      </p:pic>
      <p:pic>
        <p:nvPicPr>
          <p:cNvPr id="197" name="图片 196">
            <a:extLst>
              <a:ext uri="{FF2B5EF4-FFF2-40B4-BE49-F238E27FC236}">
                <a16:creationId xmlns:a16="http://schemas.microsoft.com/office/drawing/2014/main" id="{03D43D6A-6F97-DB76-F82C-015613A4DB3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78280" y="4596739"/>
            <a:ext cx="4077269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633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F2519-BE79-B8EE-6670-2EB6B66A2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D58B23B-56C8-F101-CC8C-480EEF2DB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25" y="2541829"/>
            <a:ext cx="11438550" cy="374107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1FD4F1B-A197-4A7B-A7EA-7303C11C0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267" y="575092"/>
            <a:ext cx="1648055" cy="136226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271C48C-B8FD-A372-C851-85C3BF816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122" y="575092"/>
            <a:ext cx="4077269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172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7F97A-49FE-ADE3-2620-FA4764BFA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33B9167-70FA-109C-3005-DCE64C708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19" y="293929"/>
            <a:ext cx="8532081" cy="6232954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$BA \ne AB$&#10;&#10;&#10;\end{document}" title="IguanaTex Bitmap Display">
            <a:extLst>
              <a:ext uri="{FF2B5EF4-FFF2-40B4-BE49-F238E27FC236}">
                <a16:creationId xmlns:a16="http://schemas.microsoft.com/office/drawing/2014/main" id="{057020E4-1F52-69D5-05FF-845F8B9F37C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835" y="3035211"/>
            <a:ext cx="2030446" cy="43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2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C8997-15D6-4AD7-9551-729EB84FA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6E764F6-415E-AC7C-081A-F637F0DB3326}"/>
              </a:ext>
            </a:extLst>
          </p:cNvPr>
          <p:cNvGrpSpPr/>
          <p:nvPr/>
        </p:nvGrpSpPr>
        <p:grpSpPr>
          <a:xfrm>
            <a:off x="1006493" y="739979"/>
            <a:ext cx="2492294" cy="2569628"/>
            <a:chOff x="350494" y="2892206"/>
            <a:chExt cx="2811908" cy="2899159"/>
          </a:xfrm>
        </p:grpSpPr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8022D27C-8389-C13D-D5AE-2E6A69997038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85B41EF4-4E19-3185-BF25-F69CC6730C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图片 6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14FE7F1C-79BE-E360-2E19-8AA27780BF16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8AC3F20-B811-E519-6D49-F4D20823910D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140512DE-0D31-D626-D4B8-A2C321905E3B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4F8F8B79-BA88-0BE9-4154-25481A7C63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79692E5F-8869-9804-302A-6BCF6CB18E6D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AB6A028A-47B3-1271-08AF-D0CD3A22E0AF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8A285143-0B53-E96C-AB26-0FDFCFED4683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2402B4C-5195-DAFE-7B7B-1612BC880883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16D4D506-AF2C-09FD-689D-B8552D1925B3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791DB372-94A7-8385-7EAF-CDF1E77D847B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8CB1F612-8016-8F31-DC4B-F0C6D075EB8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A8AD98E5-9A9D-AE5A-A013-8BA7395A9ABC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A2146FDC-D08D-71BA-24DE-8F28BA889DB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F4ACF6CE-35E4-D68D-EA38-6D46E35939C7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21" name="图片 20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B360A913-0BB0-CCD4-C404-95950E2E54EC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22" name="图片 21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4EF5A5B3-BA75-5605-D527-9B0BDCDBFBF3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23" name="图片 22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CD222C0C-F044-56BB-1E34-4D4924A1CD37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0CB44C8-085A-364C-ABE1-CEF6EE46D810}"/>
              </a:ext>
            </a:extLst>
          </p:cNvPr>
          <p:cNvGrpSpPr/>
          <p:nvPr/>
        </p:nvGrpSpPr>
        <p:grpSpPr>
          <a:xfrm>
            <a:off x="4657515" y="685167"/>
            <a:ext cx="3065589" cy="3214430"/>
            <a:chOff x="3847931" y="381450"/>
            <a:chExt cx="3458723" cy="3626652"/>
          </a:xfrm>
        </p:grpSpPr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B982E05B-6A04-B68E-3970-FCA7BD1E60D2}"/>
                </a:ext>
              </a:extLst>
            </p:cNvPr>
            <p:cNvCxnSpPr>
              <a:cxnSpLocks/>
            </p:cNvCxnSpPr>
            <p:nvPr/>
          </p:nvCxnSpPr>
          <p:spPr>
            <a:xfrm>
              <a:off x="3847931" y="2730009"/>
              <a:ext cx="3355531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66210326-D011-9BAF-7A09-F5C06EC3BD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7382" y="514643"/>
              <a:ext cx="0" cy="3493459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图片 26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3F0DBB3B-BDE9-6EAB-6483-A65E51D15C02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1390" y="2853220"/>
              <a:ext cx="245264" cy="164632"/>
            </a:xfrm>
            <a:prstGeom prst="rect">
              <a:avLst/>
            </a:prstGeom>
          </p:spPr>
        </p:pic>
        <p:pic>
          <p:nvPicPr>
            <p:cNvPr id="28" name="图片 27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A63E2558-D53E-7EB6-689C-1351F8293B82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8409" y="381450"/>
              <a:ext cx="251987" cy="164632"/>
            </a:xfrm>
            <a:prstGeom prst="rect">
              <a:avLst/>
            </a:prstGeom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CF78FAD-6C17-1792-F3E4-0AAA6E78097E}"/>
                </a:ext>
              </a:extLst>
            </p:cNvPr>
            <p:cNvSpPr/>
            <p:nvPr/>
          </p:nvSpPr>
          <p:spPr>
            <a:xfrm>
              <a:off x="4376640" y="994355"/>
              <a:ext cx="1622924" cy="1731550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44450">
              <a:solidFill>
                <a:srgbClr val="00B0F0">
                  <a:alpha val="1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5E2FDF2-435C-DA19-F9F6-707C72F7728E}"/>
                </a:ext>
              </a:extLst>
            </p:cNvPr>
            <p:cNvCxnSpPr/>
            <p:nvPr/>
          </p:nvCxnSpPr>
          <p:spPr>
            <a:xfrm>
              <a:off x="4376639" y="2728228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269FCE4E-C204-AD3C-2F11-ED3A4063BB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6293" y="967522"/>
              <a:ext cx="0" cy="1770885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C0292E40-3BEA-E287-9831-CDC9AEBE774F}"/>
                </a:ext>
              </a:extLst>
            </p:cNvPr>
            <p:cNvCxnSpPr>
              <a:cxnSpLocks/>
            </p:cNvCxnSpPr>
            <p:nvPr/>
          </p:nvCxnSpPr>
          <p:spPr>
            <a:xfrm>
              <a:off x="4361423" y="2728222"/>
              <a:ext cx="1638165" cy="0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8BA1E48C-A84A-1C3B-1EAF-B1BFF6AEC373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480960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D6543DB2-66A5-1EDC-74B7-ED38B82161E2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23601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图片 34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52F42275-E4BA-2963-1D51-F172962C2BF8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361" y="2853239"/>
              <a:ext cx="193188" cy="203267"/>
            </a:xfrm>
            <a:prstGeom prst="rect">
              <a:avLst/>
            </a:prstGeom>
          </p:spPr>
        </p:pic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E073AB3E-B033-65DB-1D37-3FCDABCB372A}"/>
                </a:ext>
              </a:extLst>
            </p:cNvPr>
            <p:cNvSpPr/>
            <p:nvPr/>
          </p:nvSpPr>
          <p:spPr>
            <a:xfrm rot="34111">
              <a:off x="5944556" y="1321087"/>
              <a:ext cx="156770" cy="15677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7C1E674C-3599-894D-7E1B-91E3F0ABF41B}"/>
                </a:ext>
              </a:extLst>
            </p:cNvPr>
            <p:cNvGrpSpPr/>
            <p:nvPr/>
          </p:nvGrpSpPr>
          <p:grpSpPr>
            <a:xfrm>
              <a:off x="4351257" y="963599"/>
              <a:ext cx="2198771" cy="1770885"/>
              <a:chOff x="4351238" y="1015426"/>
              <a:chExt cx="2198770" cy="1770885"/>
            </a:xfrm>
          </p:grpSpPr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D84B9430-51BF-99CB-D87D-84474865896E}"/>
                  </a:ext>
                </a:extLst>
              </p:cNvPr>
              <p:cNvGrpSpPr/>
              <p:nvPr/>
            </p:nvGrpSpPr>
            <p:grpSpPr>
              <a:xfrm>
                <a:off x="4376292" y="1045548"/>
                <a:ext cx="2150462" cy="1731550"/>
                <a:chOff x="4376292" y="1045548"/>
                <a:chExt cx="2150462" cy="1731550"/>
              </a:xfrm>
            </p:grpSpPr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1CCA6A9C-555E-733E-1D71-39297864BE67}"/>
                    </a:ext>
                  </a:extLst>
                </p:cNvPr>
                <p:cNvSpPr/>
                <p:nvPr/>
              </p:nvSpPr>
              <p:spPr>
                <a:xfrm>
                  <a:off x="4376293" y="1045548"/>
                  <a:ext cx="2146648" cy="1731550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  <a:ln w="44450">
                  <a:solidFill>
                    <a:srgbClr val="0070C0">
                      <a:alpha val="25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 dirty="0"/>
                </a:p>
              </p:txBody>
            </p:sp>
            <p:cxnSp>
              <p:nvCxnSpPr>
                <p:cNvPr id="43" name="直接连接符 42">
                  <a:extLst>
                    <a:ext uri="{FF2B5EF4-FFF2-40B4-BE49-F238E27FC236}">
                      <a16:creationId xmlns:a16="http://schemas.microsoft.com/office/drawing/2014/main" id="{DD123C47-BE8F-35E7-B276-A9EBC9BB43B8}"/>
                    </a:ext>
                  </a:extLst>
                </p:cNvPr>
                <p:cNvCxnSpPr/>
                <p:nvPr/>
              </p:nvCxnSpPr>
              <p:spPr>
                <a:xfrm>
                  <a:off x="4376292" y="106314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BC9AFED7-3B6A-01C9-4579-029468AB8588}"/>
                    </a:ext>
                  </a:extLst>
                </p:cNvPr>
                <p:cNvCxnSpPr/>
                <p:nvPr/>
              </p:nvCxnSpPr>
              <p:spPr>
                <a:xfrm>
                  <a:off x="4376292" y="277709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87D568D5-DEA2-716B-ED99-C39A6344ABCE}"/>
                    </a:ext>
                  </a:extLst>
                </p:cNvPr>
                <p:cNvCxnSpPr/>
                <p:nvPr/>
              </p:nvCxnSpPr>
              <p:spPr>
                <a:xfrm>
                  <a:off x="4378195" y="1308085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E9AF71C5-7158-804E-F323-5EB1E3E27906}"/>
                    </a:ext>
                  </a:extLst>
                </p:cNvPr>
                <p:cNvCxnSpPr/>
                <p:nvPr/>
              </p:nvCxnSpPr>
              <p:spPr>
                <a:xfrm>
                  <a:off x="4376292" y="1553027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0615B789-545A-4DE2-E03A-0F82A0D76C78}"/>
                    </a:ext>
                  </a:extLst>
                </p:cNvPr>
                <p:cNvCxnSpPr/>
                <p:nvPr/>
              </p:nvCxnSpPr>
              <p:spPr>
                <a:xfrm>
                  <a:off x="4376638" y="1797969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0CADA9A7-1F59-74DB-C398-BFFC098930FB}"/>
                    </a:ext>
                  </a:extLst>
                </p:cNvPr>
                <p:cNvCxnSpPr/>
                <p:nvPr/>
              </p:nvCxnSpPr>
              <p:spPr>
                <a:xfrm>
                  <a:off x="4376293" y="204291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>
                  <a:extLst>
                    <a:ext uri="{FF2B5EF4-FFF2-40B4-BE49-F238E27FC236}">
                      <a16:creationId xmlns:a16="http://schemas.microsoft.com/office/drawing/2014/main" id="{513D1968-94A4-6ECB-9AF6-FBC353426EAA}"/>
                    </a:ext>
                  </a:extLst>
                </p:cNvPr>
                <p:cNvCxnSpPr/>
                <p:nvPr/>
              </p:nvCxnSpPr>
              <p:spPr>
                <a:xfrm>
                  <a:off x="4376638" y="228785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CE07B304-BA90-A509-91C5-9AA8E333A4DA}"/>
                    </a:ext>
                  </a:extLst>
                </p:cNvPr>
                <p:cNvCxnSpPr/>
                <p:nvPr/>
              </p:nvCxnSpPr>
              <p:spPr>
                <a:xfrm>
                  <a:off x="4380103" y="2532800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A83550D4-D57C-152A-A5E5-6E0857DC68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1238" y="2779638"/>
                <a:ext cx="2198770" cy="0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12FD1D29-8DF5-9F88-70DB-6094EDC78E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76292" y="1015426"/>
                <a:ext cx="0" cy="177088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79CF717C-02B3-6921-EF95-D4F42BA05FF4}"/>
                </a:ext>
              </a:extLst>
            </p:cNvPr>
            <p:cNvSpPr/>
            <p:nvPr/>
          </p:nvSpPr>
          <p:spPr>
            <a:xfrm>
              <a:off x="5516812" y="1321055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EF457C1-961B-41A0-112A-6E31932E5F9A}"/>
              </a:ext>
            </a:extLst>
          </p:cNvPr>
          <p:cNvGrpSpPr/>
          <p:nvPr/>
        </p:nvGrpSpPr>
        <p:grpSpPr>
          <a:xfrm>
            <a:off x="7631641" y="1624109"/>
            <a:ext cx="971570" cy="509500"/>
            <a:chOff x="7211410" y="1362117"/>
            <a:chExt cx="971570" cy="509500"/>
          </a:xfrm>
        </p:grpSpPr>
        <p:pic>
          <p:nvPicPr>
            <p:cNvPr id="52" name="图片 51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6A633DF9-487F-AF4B-C26A-9DD1AB4F9BA9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1410" y="1614117"/>
              <a:ext cx="971570" cy="257500"/>
            </a:xfrm>
            <a:prstGeom prst="rect">
              <a:avLst/>
            </a:prstGeom>
          </p:spPr>
        </p:pic>
        <p:pic>
          <p:nvPicPr>
            <p:cNvPr id="59" name="图片 58" descr="\documentclass{article}&#10;\usepackage{amsmath}&#10;\pagestyle{empty}&#10;\begin{document}&#10;&#10;$A^{-1}$&#10;&#10;&#10;\end{document}" title="IguanaTex Bitmap Display">
              <a:extLst>
                <a:ext uri="{FF2B5EF4-FFF2-40B4-BE49-F238E27FC236}">
                  <a16:creationId xmlns:a16="http://schemas.microsoft.com/office/drawing/2014/main" id="{AE57E7F6-598C-EEDA-2DF3-0B9CC891723C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8001" y="1362117"/>
              <a:ext cx="563203" cy="277550"/>
            </a:xfrm>
            <a:prstGeom prst="rect">
              <a:avLst/>
            </a:prstGeom>
          </p:spPr>
        </p:pic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2A0CF24-EFC1-263B-B883-124A6F568945}"/>
              </a:ext>
            </a:extLst>
          </p:cNvPr>
          <p:cNvGrpSpPr/>
          <p:nvPr/>
        </p:nvGrpSpPr>
        <p:grpSpPr>
          <a:xfrm>
            <a:off x="3533427" y="1635851"/>
            <a:ext cx="971570" cy="509500"/>
            <a:chOff x="5943782" y="6570580"/>
            <a:chExt cx="1096165" cy="574839"/>
          </a:xfrm>
        </p:grpSpPr>
        <p:pic>
          <p:nvPicPr>
            <p:cNvPr id="55" name="图片 54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6127881D-E147-AF2C-7052-735EE4BFB625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3782" y="6854897"/>
              <a:ext cx="1096165" cy="290522"/>
            </a:xfrm>
            <a:prstGeom prst="rect">
              <a:avLst/>
            </a:prstGeom>
          </p:spPr>
        </p:pic>
        <p:pic>
          <p:nvPicPr>
            <p:cNvPr id="56" name="图片 55" descr="\documentclass{article}&#10;\usepackage{amsmath}&#10;\pagestyle{empty}&#10;\begin{document}&#10;&#10;$A$&#10;&#10;&#10;\end{document}" title="IguanaTex Bitmap Display">
              <a:extLst>
                <a:ext uri="{FF2B5EF4-FFF2-40B4-BE49-F238E27FC236}">
                  <a16:creationId xmlns:a16="http://schemas.microsoft.com/office/drawing/2014/main" id="{F94E9BFD-B96E-D548-526B-8CB52E7DF000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4877" y="6570580"/>
              <a:ext cx="262857" cy="272000"/>
            </a:xfrm>
            <a:prstGeom prst="rect">
              <a:avLst/>
            </a:prstGeom>
          </p:spPr>
        </p:pic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9F250292-0145-EFB2-91EB-5EF35F1A128F}"/>
              </a:ext>
            </a:extLst>
          </p:cNvPr>
          <p:cNvGrpSpPr/>
          <p:nvPr/>
        </p:nvGrpSpPr>
        <p:grpSpPr>
          <a:xfrm>
            <a:off x="8689051" y="739979"/>
            <a:ext cx="2492294" cy="2569628"/>
            <a:chOff x="350494" y="2892206"/>
            <a:chExt cx="2811908" cy="2899159"/>
          </a:xfrm>
        </p:grpSpPr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CF361EA6-69A4-F00F-D190-0BAF47311E81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FFE4810C-D434-B68D-97B9-C47B9C8911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4" name="图片 63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C77B6822-7452-0E98-900E-38E31F5E9E1B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84EA4A1A-E747-145F-0A9F-4F4FA13C05D1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563E9E16-A18D-0CEB-1DAC-3763E018C664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6C65BFAF-A81B-E9CC-C2D3-BD5FA8DAC1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19B796FB-1B09-90E5-3B56-F3BF1B88F512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D67D5C44-1E8C-EC89-4805-4753E4D91AEA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B9C49DF2-3AF5-6525-CFC3-41DE13F305FD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64A32BB7-BFDB-E853-46E7-D1E61D1BEB26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CEC8B250-5403-9115-CE33-603D9188E7E9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BC2C7E4B-0AAD-9EA6-9090-5AE9BD653C6B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54FFC7E5-28D5-437A-D9EA-D9387BDB3CF6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E6AEF32-AE45-187B-4E2B-3204BDE14CB0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E98E12B2-D9DD-C099-80FF-66231E1BDC10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667E2164-082D-6CAF-8A8E-6D189030A28B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78" name="图片 77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56D2135B-8FC4-2DB7-8E8A-454B06B9C00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79" name="图片 78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6368648C-656E-DEF2-DB3D-8BDC658CAF29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80" name="图片 79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6A56C04D-2B57-5A12-6859-8053B6FB08CD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88C36FB7-B3AE-C4D1-F6FF-75B508CCEE06}"/>
              </a:ext>
            </a:extLst>
          </p:cNvPr>
          <p:cNvSpPr txBox="1"/>
          <p:nvPr/>
        </p:nvSpPr>
        <p:spPr>
          <a:xfrm>
            <a:off x="954544" y="4491453"/>
            <a:ext cx="9125282" cy="1436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既是单射又是满射的映射（双射）是可逆的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一个映射与其逆映射的复合是恒等映射（什么都没做）</a:t>
            </a:r>
          </a:p>
        </p:txBody>
      </p:sp>
    </p:spTree>
    <p:extLst>
      <p:ext uri="{BB962C8B-B14F-4D97-AF65-F5344CB8AC3E}">
        <p14:creationId xmlns:p14="http://schemas.microsoft.com/office/powerpoint/2010/main" val="4017455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B9AE6-8039-D1D6-97CC-EEAE42CCF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CE791BB-39C7-B5BD-6979-B3A85A93A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51" y="382501"/>
            <a:ext cx="8075347" cy="6030825"/>
          </a:xfrm>
          <a:prstGeom prst="rect">
            <a:avLst/>
          </a:prstGeom>
        </p:spPr>
      </p:pic>
      <p:sp>
        <p:nvSpPr>
          <p:cNvPr id="53" name="椭圆 52">
            <a:extLst>
              <a:ext uri="{FF2B5EF4-FFF2-40B4-BE49-F238E27FC236}">
                <a16:creationId xmlns:a16="http://schemas.microsoft.com/office/drawing/2014/main" id="{C9367AB7-1ED7-FD15-0139-42CFD4910FC4}"/>
              </a:ext>
            </a:extLst>
          </p:cNvPr>
          <p:cNvSpPr/>
          <p:nvPr/>
        </p:nvSpPr>
        <p:spPr>
          <a:xfrm>
            <a:off x="5459179" y="3027332"/>
            <a:ext cx="2941320" cy="3322320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7E6799D-8E5C-46F8-6ADE-F3CFD3CC8685}"/>
              </a:ext>
            </a:extLst>
          </p:cNvPr>
          <p:cNvSpPr txBox="1"/>
          <p:nvPr/>
        </p:nvSpPr>
        <p:spPr>
          <a:xfrm>
            <a:off x="8160568" y="4488437"/>
            <a:ext cx="3331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平行投影不是可逆映射</a:t>
            </a:r>
          </a:p>
        </p:txBody>
      </p:sp>
    </p:spTree>
    <p:extLst>
      <p:ext uri="{BB962C8B-B14F-4D97-AF65-F5344CB8AC3E}">
        <p14:creationId xmlns:p14="http://schemas.microsoft.com/office/powerpoint/2010/main" val="2453485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302D6-F4D4-3A9F-B5B5-EE91363BC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198EE0C-D24A-9E15-F6F6-9355DE647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13" y="1083771"/>
            <a:ext cx="10555173" cy="249589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BA6A914-D8B1-891D-D6D8-5CC5140DA862}"/>
              </a:ext>
            </a:extLst>
          </p:cNvPr>
          <p:cNvSpPr txBox="1"/>
          <p:nvPr/>
        </p:nvSpPr>
        <p:spPr>
          <a:xfrm>
            <a:off x="994078" y="4320797"/>
            <a:ext cx="9125282" cy="2175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求解线性变换（映射）的逆变换（映射）就是求解线性方程组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线性变换不可逆     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阶线性方程组无解或有无穷多解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图片 11" descr="\documentclass{article}&#10;\usepackage{amsmath}&#10;\pagestyle{empty}&#10;\begin{document}&#10;&#10;&#10;$\Longleftrightarrow$&#10;&#10;\end{document}" title="IguanaTex Bitmap Display">
            <a:extLst>
              <a:ext uri="{FF2B5EF4-FFF2-40B4-BE49-F238E27FC236}">
                <a16:creationId xmlns:a16="http://schemas.microsoft.com/office/drawing/2014/main" id="{640D88C7-0FF8-89B1-C56B-088E452B179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200" y="5493737"/>
            <a:ext cx="437333" cy="14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337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9FE3F-ABC4-922C-4ECB-0822E67B0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977144C-0823-719A-69C8-00BB27335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00" y="780627"/>
            <a:ext cx="5170171" cy="22583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B48EA68-6426-9CA3-E880-0FF6BA5A7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937" y="662956"/>
            <a:ext cx="5532366" cy="250696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A3B0362-109A-F1E0-762C-E3F1FD858826}"/>
              </a:ext>
            </a:extLst>
          </p:cNvPr>
          <p:cNvSpPr txBox="1"/>
          <p:nvPr/>
        </p:nvSpPr>
        <p:spPr>
          <a:xfrm>
            <a:off x="593457" y="4758112"/>
            <a:ext cx="6771847" cy="1436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矩阵可以看成行向量组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列向量组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矩阵就是线性映射，线性映射就是矩阵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1F96D1A-2811-A16C-D3F7-097D1EFB6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376" y="3169920"/>
            <a:ext cx="2523488" cy="101998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48E0F6B-27E1-6B19-6604-CE0B558460B4}"/>
              </a:ext>
            </a:extLst>
          </p:cNvPr>
          <p:cNvSpPr/>
          <p:nvPr/>
        </p:nvSpPr>
        <p:spPr>
          <a:xfrm>
            <a:off x="7365304" y="1180262"/>
            <a:ext cx="2517732" cy="320965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00E080-F0D9-6998-7572-4225B6063CAB}"/>
              </a:ext>
            </a:extLst>
          </p:cNvPr>
          <p:cNvSpPr/>
          <p:nvPr/>
        </p:nvSpPr>
        <p:spPr>
          <a:xfrm>
            <a:off x="7365304" y="1558381"/>
            <a:ext cx="2517732" cy="320965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334B69-777A-155D-966A-2AE15677FE09}"/>
              </a:ext>
            </a:extLst>
          </p:cNvPr>
          <p:cNvSpPr/>
          <p:nvPr/>
        </p:nvSpPr>
        <p:spPr>
          <a:xfrm>
            <a:off x="7365304" y="2491621"/>
            <a:ext cx="2517732" cy="320965"/>
          </a:xfrm>
          <a:prstGeom prst="rect">
            <a:avLst/>
          </a:prstGeom>
          <a:solidFill>
            <a:srgbClr val="00206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153A40-67F1-7FA6-4AE1-91AB3CE8CD58}"/>
              </a:ext>
            </a:extLst>
          </p:cNvPr>
          <p:cNvSpPr/>
          <p:nvPr/>
        </p:nvSpPr>
        <p:spPr>
          <a:xfrm>
            <a:off x="6161344" y="1180262"/>
            <a:ext cx="468056" cy="320965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888E8-EDAB-5947-1F26-1E16900883AB}"/>
              </a:ext>
            </a:extLst>
          </p:cNvPr>
          <p:cNvSpPr/>
          <p:nvPr/>
        </p:nvSpPr>
        <p:spPr>
          <a:xfrm>
            <a:off x="6161344" y="1558381"/>
            <a:ext cx="468056" cy="320965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B89C9F-4C23-8B43-2621-1C28E99DE774}"/>
              </a:ext>
            </a:extLst>
          </p:cNvPr>
          <p:cNvSpPr/>
          <p:nvPr/>
        </p:nvSpPr>
        <p:spPr>
          <a:xfrm>
            <a:off x="6161344" y="2491621"/>
            <a:ext cx="468056" cy="320965"/>
          </a:xfrm>
          <a:prstGeom prst="rect">
            <a:avLst/>
          </a:prstGeom>
          <a:solidFill>
            <a:srgbClr val="00206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DB6B4E-F6E3-9BEB-3097-E9E4E53C1123}"/>
              </a:ext>
            </a:extLst>
          </p:cNvPr>
          <p:cNvSpPr/>
          <p:nvPr/>
        </p:nvSpPr>
        <p:spPr>
          <a:xfrm>
            <a:off x="10336881" y="950275"/>
            <a:ext cx="399476" cy="2063699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95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3284D-8B0C-374E-7D2F-1A48181DB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36D42E1-0CF9-565B-1F9E-9310A7BF5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51" y="382501"/>
            <a:ext cx="8075347" cy="60308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00ECFD2-8D1D-A00C-7219-847470816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94" y="638725"/>
            <a:ext cx="2866525" cy="131642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6AB38E8-F746-EC2E-B61E-926A331AC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801" y="1785233"/>
            <a:ext cx="2009684" cy="122294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1D2EC2A-C565-61ED-9E73-9D5484278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1334" y="2783741"/>
            <a:ext cx="2196631" cy="137094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9035165-A5E8-7154-3D75-62D95709A8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2113" y="4135144"/>
            <a:ext cx="2009684" cy="96589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2D589EF-0FBA-3B09-3FC7-5E1962B7D9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6506" y="5163668"/>
            <a:ext cx="2204420" cy="98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065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412B1-66A7-B937-4747-02793EB91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图片 194">
            <a:extLst>
              <a:ext uri="{FF2B5EF4-FFF2-40B4-BE49-F238E27FC236}">
                <a16:creationId xmlns:a16="http://schemas.microsoft.com/office/drawing/2014/main" id="{7D63BFC9-CA26-15BE-1DD7-6DBE135CF52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05936" y="3966543"/>
            <a:ext cx="1648055" cy="1362265"/>
          </a:xfrm>
          <a:prstGeom prst="rect">
            <a:avLst/>
          </a:prstGeom>
        </p:spPr>
      </p:pic>
      <p:pic>
        <p:nvPicPr>
          <p:cNvPr id="197" name="图片 196">
            <a:extLst>
              <a:ext uri="{FF2B5EF4-FFF2-40B4-BE49-F238E27FC236}">
                <a16:creationId xmlns:a16="http://schemas.microsoft.com/office/drawing/2014/main" id="{384279AB-5538-B53E-360E-F5F725A420B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41677" y="3935768"/>
            <a:ext cx="4077269" cy="134321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3BF0089-F151-4202-0E6E-ADF2DDD542DA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r="62138"/>
          <a:stretch>
            <a:fillRect/>
          </a:stretch>
        </p:blipFill>
        <p:spPr>
          <a:xfrm>
            <a:off x="2819167" y="5145424"/>
            <a:ext cx="2003475" cy="1240018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D99D7C9-6766-E816-FE43-BDBB6AAD6E43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40359"/>
          <a:stretch>
            <a:fillRect/>
          </a:stretch>
        </p:blipFill>
        <p:spPr>
          <a:xfrm>
            <a:off x="5960592" y="5145424"/>
            <a:ext cx="3155914" cy="1240018"/>
          </a:xfrm>
          <a:prstGeom prst="rect">
            <a:avLst/>
          </a:prstGeom>
        </p:spPr>
      </p:pic>
      <p:sp>
        <p:nvSpPr>
          <p:cNvPr id="174" name="矩形 173">
            <a:extLst>
              <a:ext uri="{FF2B5EF4-FFF2-40B4-BE49-F238E27FC236}">
                <a16:creationId xmlns:a16="http://schemas.microsoft.com/office/drawing/2014/main" id="{ADE57B1B-0152-D663-76A0-B0B9354369F6}"/>
              </a:ext>
            </a:extLst>
          </p:cNvPr>
          <p:cNvSpPr/>
          <p:nvPr/>
        </p:nvSpPr>
        <p:spPr>
          <a:xfrm rot="3496957">
            <a:off x="9033599" y="2157883"/>
            <a:ext cx="1902650" cy="1534734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6018191-379F-E620-AE8A-ADFBD21AB95C}"/>
              </a:ext>
            </a:extLst>
          </p:cNvPr>
          <p:cNvGrpSpPr/>
          <p:nvPr/>
        </p:nvGrpSpPr>
        <p:grpSpPr>
          <a:xfrm>
            <a:off x="762653" y="477987"/>
            <a:ext cx="2492294" cy="2569628"/>
            <a:chOff x="350494" y="2892206"/>
            <a:chExt cx="2811908" cy="2899159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4540F1AD-FCC3-67AC-8E2B-DA6CA939AE0A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D3932B21-5039-79FA-340C-BB4C74C1AD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图片 4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08FFAC92-258F-3E44-3B3A-DBE2F05A7108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1F2B2B4-D228-AA83-5099-D8A963FE9210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8EDAE7-DE68-F3B8-73A6-CE5AD44CBBD0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F926E8ED-8B8A-D132-DA4C-A9C2FED75E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6DD8FC52-EE97-F483-8DB7-DBE60DAAB92A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5E2C9F82-D6DF-84F3-2CDD-8D5CC4A83D1E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B591BAFD-E131-ADD8-E633-3B4D78A66516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33E7CA4-EF64-1459-73A2-7481890073EE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97D521E-32E2-6FA3-DD49-E935D07AA692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6935687-7B59-3C20-2BA3-1355081A758A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4CA4F6D3-8E0C-05AC-A750-348C0BEFDC2F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126BB9B-CF3B-090A-6CF8-9C8DC9EE1C1B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F3534A01-B524-57FA-035F-FC8D50568FA2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F374C35C-E032-2D2B-66DF-B20648EC7EDD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19" name="图片 18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805FD9FB-9261-48D9-57A8-537119F3D41A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20" name="图片 19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2DF13BC0-4CB6-D073-2FA1-89A26AAC41D9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21" name="图片 20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65950597-96AD-C4A5-4444-2C5937233D64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C96C580-6951-D958-6A1F-5AF0158BCE0D}"/>
              </a:ext>
            </a:extLst>
          </p:cNvPr>
          <p:cNvGrpSpPr/>
          <p:nvPr/>
        </p:nvGrpSpPr>
        <p:grpSpPr>
          <a:xfrm>
            <a:off x="4413675" y="423175"/>
            <a:ext cx="3065589" cy="3214430"/>
            <a:chOff x="3847931" y="381450"/>
            <a:chExt cx="3458723" cy="3626652"/>
          </a:xfrm>
        </p:grpSpPr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465E91DC-BEFC-60D3-D3EA-48F5BE5BE038}"/>
                </a:ext>
              </a:extLst>
            </p:cNvPr>
            <p:cNvCxnSpPr>
              <a:cxnSpLocks/>
            </p:cNvCxnSpPr>
            <p:nvPr/>
          </p:nvCxnSpPr>
          <p:spPr>
            <a:xfrm>
              <a:off x="3847931" y="2730009"/>
              <a:ext cx="3355531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E628C9CA-8D9B-6305-B502-799C389649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7382" y="514643"/>
              <a:ext cx="0" cy="3493459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图片 27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E17A86E2-5D84-3A12-0BE5-723077B96C99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1390" y="2853220"/>
              <a:ext cx="245264" cy="164632"/>
            </a:xfrm>
            <a:prstGeom prst="rect">
              <a:avLst/>
            </a:prstGeom>
          </p:spPr>
        </p:pic>
        <p:pic>
          <p:nvPicPr>
            <p:cNvPr id="29" name="图片 28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448BCBB6-710D-789E-8A3D-BEA7EDE6AEC5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8409" y="381450"/>
              <a:ext cx="251987" cy="164632"/>
            </a:xfrm>
            <a:prstGeom prst="rect">
              <a:avLst/>
            </a:prstGeom>
          </p:spPr>
        </p:pic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9A88911-0605-3995-E806-3B31908D202E}"/>
                </a:ext>
              </a:extLst>
            </p:cNvPr>
            <p:cNvSpPr/>
            <p:nvPr/>
          </p:nvSpPr>
          <p:spPr>
            <a:xfrm>
              <a:off x="4376640" y="994355"/>
              <a:ext cx="1622924" cy="1731550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44450">
              <a:solidFill>
                <a:srgbClr val="00B0F0">
                  <a:alpha val="1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2A4512ED-0811-7646-97A5-9CDC497385B7}"/>
                </a:ext>
              </a:extLst>
            </p:cNvPr>
            <p:cNvCxnSpPr/>
            <p:nvPr/>
          </p:nvCxnSpPr>
          <p:spPr>
            <a:xfrm>
              <a:off x="4376639" y="2728228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BC4CF7D0-98C8-C20F-B657-EB06F68DC9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6293" y="967522"/>
              <a:ext cx="0" cy="1770885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792E3926-C4B5-1AB0-DA50-CD2785008A36}"/>
                </a:ext>
              </a:extLst>
            </p:cNvPr>
            <p:cNvCxnSpPr>
              <a:cxnSpLocks/>
            </p:cNvCxnSpPr>
            <p:nvPr/>
          </p:nvCxnSpPr>
          <p:spPr>
            <a:xfrm>
              <a:off x="4361423" y="2728222"/>
              <a:ext cx="1638165" cy="0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ADC186AA-0C1B-E3E0-1473-5DBB2DB9F13F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480960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C149BDE9-AE02-6785-E1CE-5C07AA473AB8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23601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图片 35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51CFA7C6-E9D9-3F68-243D-B048FAE84988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361" y="2853239"/>
              <a:ext cx="193188" cy="203267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EA73210F-AA6D-E144-B68D-6EAC6D9BEE62}"/>
                </a:ext>
              </a:extLst>
            </p:cNvPr>
            <p:cNvSpPr/>
            <p:nvPr/>
          </p:nvSpPr>
          <p:spPr>
            <a:xfrm rot="34111">
              <a:off x="5944556" y="1321087"/>
              <a:ext cx="156770" cy="15677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D6DA3954-4E7A-0753-2B11-0E64AB28F75E}"/>
                </a:ext>
              </a:extLst>
            </p:cNvPr>
            <p:cNvGrpSpPr/>
            <p:nvPr/>
          </p:nvGrpSpPr>
          <p:grpSpPr>
            <a:xfrm>
              <a:off x="4351257" y="963599"/>
              <a:ext cx="2198771" cy="1770885"/>
              <a:chOff x="4351238" y="1015426"/>
              <a:chExt cx="2198770" cy="1770885"/>
            </a:xfrm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AB84FA8E-4E17-B83A-7544-6FC09A2DC4A8}"/>
                  </a:ext>
                </a:extLst>
              </p:cNvPr>
              <p:cNvGrpSpPr/>
              <p:nvPr/>
            </p:nvGrpSpPr>
            <p:grpSpPr>
              <a:xfrm>
                <a:off x="4376292" y="1045548"/>
                <a:ext cx="2150462" cy="1731550"/>
                <a:chOff x="4376292" y="1045548"/>
                <a:chExt cx="2150462" cy="1731550"/>
              </a:xfrm>
            </p:grpSpPr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BF30F4C6-C147-3CFF-54B9-E32576E790E5}"/>
                    </a:ext>
                  </a:extLst>
                </p:cNvPr>
                <p:cNvSpPr/>
                <p:nvPr/>
              </p:nvSpPr>
              <p:spPr>
                <a:xfrm>
                  <a:off x="4376293" y="1045548"/>
                  <a:ext cx="2146648" cy="1731550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  <a:ln w="44450">
                  <a:solidFill>
                    <a:srgbClr val="0070C0">
                      <a:alpha val="25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 dirty="0"/>
                </a:p>
              </p:txBody>
            </p: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0C46DB34-13C8-31E8-25A8-715565C7F53F}"/>
                    </a:ext>
                  </a:extLst>
                </p:cNvPr>
                <p:cNvCxnSpPr/>
                <p:nvPr/>
              </p:nvCxnSpPr>
              <p:spPr>
                <a:xfrm>
                  <a:off x="4376292" y="106314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20DAF595-06A5-7A12-246C-3E89A5A8243D}"/>
                    </a:ext>
                  </a:extLst>
                </p:cNvPr>
                <p:cNvCxnSpPr/>
                <p:nvPr/>
              </p:nvCxnSpPr>
              <p:spPr>
                <a:xfrm>
                  <a:off x="4376292" y="277709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4E8256A5-DEC1-E100-591F-EB13BD89242A}"/>
                    </a:ext>
                  </a:extLst>
                </p:cNvPr>
                <p:cNvCxnSpPr/>
                <p:nvPr/>
              </p:nvCxnSpPr>
              <p:spPr>
                <a:xfrm>
                  <a:off x="4378195" y="1308085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9880AE69-9320-A18E-1C4C-B97E930252CB}"/>
                    </a:ext>
                  </a:extLst>
                </p:cNvPr>
                <p:cNvCxnSpPr/>
                <p:nvPr/>
              </p:nvCxnSpPr>
              <p:spPr>
                <a:xfrm>
                  <a:off x="4376292" y="1553027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11264E41-0C89-6038-ABCD-C3BBC3BBF75E}"/>
                    </a:ext>
                  </a:extLst>
                </p:cNvPr>
                <p:cNvCxnSpPr/>
                <p:nvPr/>
              </p:nvCxnSpPr>
              <p:spPr>
                <a:xfrm>
                  <a:off x="4376638" y="1797969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>
                  <a:extLst>
                    <a:ext uri="{FF2B5EF4-FFF2-40B4-BE49-F238E27FC236}">
                      <a16:creationId xmlns:a16="http://schemas.microsoft.com/office/drawing/2014/main" id="{931B6F2F-7AFD-384E-C5D3-0EE7E2482A57}"/>
                    </a:ext>
                  </a:extLst>
                </p:cNvPr>
                <p:cNvCxnSpPr/>
                <p:nvPr/>
              </p:nvCxnSpPr>
              <p:spPr>
                <a:xfrm>
                  <a:off x="4376293" y="204291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EF5B5CDF-B5B3-8E97-9C2C-20F712D67624}"/>
                    </a:ext>
                  </a:extLst>
                </p:cNvPr>
                <p:cNvCxnSpPr/>
                <p:nvPr/>
              </p:nvCxnSpPr>
              <p:spPr>
                <a:xfrm>
                  <a:off x="4376638" y="228785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>
                  <a:extLst>
                    <a:ext uri="{FF2B5EF4-FFF2-40B4-BE49-F238E27FC236}">
                      <a16:creationId xmlns:a16="http://schemas.microsoft.com/office/drawing/2014/main" id="{85728D12-6B1F-97EF-1E9D-1F49EA39CE2C}"/>
                    </a:ext>
                  </a:extLst>
                </p:cNvPr>
                <p:cNvCxnSpPr/>
                <p:nvPr/>
              </p:nvCxnSpPr>
              <p:spPr>
                <a:xfrm>
                  <a:off x="4380103" y="2532800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953473C2-E84F-37CB-BA73-8B3ED7E6AA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1238" y="2779638"/>
                <a:ext cx="2198770" cy="0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>
                <a:extLst>
                  <a:ext uri="{FF2B5EF4-FFF2-40B4-BE49-F238E27FC236}">
                    <a16:creationId xmlns:a16="http://schemas.microsoft.com/office/drawing/2014/main" id="{A1ABDDE9-94AF-6991-4942-3BA0691AD3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76292" y="1015426"/>
                <a:ext cx="0" cy="177088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68155C8B-9E35-CEEA-092F-D7F03EEFEC65}"/>
                </a:ext>
              </a:extLst>
            </p:cNvPr>
            <p:cNvSpPr/>
            <p:nvPr/>
          </p:nvSpPr>
          <p:spPr>
            <a:xfrm>
              <a:off x="5516812" y="1321055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DDB94B2C-21C1-4C04-1FD8-ACB1B77016E8}"/>
              </a:ext>
            </a:extLst>
          </p:cNvPr>
          <p:cNvGrpSpPr/>
          <p:nvPr/>
        </p:nvGrpSpPr>
        <p:grpSpPr>
          <a:xfrm>
            <a:off x="7211410" y="1362117"/>
            <a:ext cx="971570" cy="509500"/>
            <a:chOff x="7211409" y="1362116"/>
            <a:chExt cx="1096165" cy="574839"/>
          </a:xfrm>
        </p:grpSpPr>
        <p:pic>
          <p:nvPicPr>
            <p:cNvPr id="148" name="图片 147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E0B58582-F2B6-D906-5D5C-970939D88A97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1409" y="1646433"/>
              <a:ext cx="1096165" cy="290522"/>
            </a:xfrm>
            <a:prstGeom prst="rect">
              <a:avLst/>
            </a:prstGeom>
          </p:spPr>
        </p:pic>
        <p:pic>
          <p:nvPicPr>
            <p:cNvPr id="149" name="图片 148" descr="\documentclass{article}&#10;\usepackage{amsmath}&#10;\pagestyle{empty}&#10;\begin{document}&#10;&#10;$B$&#10;&#10;&#10;\end{document}" title="IguanaTex Bitmap Display">
              <a:extLst>
                <a:ext uri="{FF2B5EF4-FFF2-40B4-BE49-F238E27FC236}">
                  <a16:creationId xmlns:a16="http://schemas.microsoft.com/office/drawing/2014/main" id="{DF03BF5C-955D-94AD-B3D0-86D77F87A06C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2503" y="1362116"/>
              <a:ext cx="274286" cy="258286"/>
            </a:xfrm>
            <a:prstGeom prst="rect">
              <a:avLst/>
            </a:prstGeom>
          </p:spPr>
        </p:pic>
      </p:grp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2C07D88A-2C3F-3D76-71E5-22EF8125117C}"/>
              </a:ext>
            </a:extLst>
          </p:cNvPr>
          <p:cNvCxnSpPr>
            <a:cxnSpLocks/>
          </p:cNvCxnSpPr>
          <p:nvPr/>
        </p:nvCxnSpPr>
        <p:spPr>
          <a:xfrm>
            <a:off x="8354969" y="2520502"/>
            <a:ext cx="3316332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FF0E3ACE-31D6-CA03-BF4C-1D634BB58DF7}"/>
              </a:ext>
            </a:extLst>
          </p:cNvPr>
          <p:cNvCxnSpPr>
            <a:cxnSpLocks/>
          </p:cNvCxnSpPr>
          <p:nvPr/>
        </p:nvCxnSpPr>
        <p:spPr>
          <a:xfrm flipV="1">
            <a:off x="8824240" y="556944"/>
            <a:ext cx="0" cy="3096377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" name="图片 153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BAF4873B-6812-CA88-DC8A-0BAD00C721C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7281" y="2629706"/>
            <a:ext cx="217386" cy="145919"/>
          </a:xfrm>
          <a:prstGeom prst="rect">
            <a:avLst/>
          </a:prstGeom>
        </p:spPr>
      </p:pic>
      <p:pic>
        <p:nvPicPr>
          <p:cNvPr id="155" name="图片 154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5B13D5A0-B467-563C-3384-5D2B830DF5F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932" y="449205"/>
            <a:ext cx="223345" cy="145919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926BA0D0-3E41-01DB-5A63-1376F85AF19A}"/>
              </a:ext>
            </a:extLst>
          </p:cNvPr>
          <p:cNvSpPr/>
          <p:nvPr/>
        </p:nvSpPr>
        <p:spPr>
          <a:xfrm>
            <a:off x="8823582" y="982128"/>
            <a:ext cx="1438455" cy="1534734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567FB530-EDC4-6520-B9A0-BF2CF3B12E64}"/>
              </a:ext>
            </a:extLst>
          </p:cNvPr>
          <p:cNvCxnSpPr>
            <a:cxnSpLocks/>
          </p:cNvCxnSpPr>
          <p:nvPr/>
        </p:nvCxnSpPr>
        <p:spPr>
          <a:xfrm>
            <a:off x="8823582" y="2518922"/>
            <a:ext cx="1438455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C7CE2FA4-F40C-40E2-4AB7-24A29B6E6B23}"/>
              </a:ext>
            </a:extLst>
          </p:cNvPr>
          <p:cNvCxnSpPr>
            <a:cxnSpLocks/>
          </p:cNvCxnSpPr>
          <p:nvPr/>
        </p:nvCxnSpPr>
        <p:spPr>
          <a:xfrm flipV="1">
            <a:off x="8828677" y="958344"/>
            <a:ext cx="0" cy="1569598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A8AE3AAF-D45B-D5FB-AB22-D58F282FFBFA}"/>
              </a:ext>
            </a:extLst>
          </p:cNvPr>
          <p:cNvCxnSpPr>
            <a:cxnSpLocks/>
          </p:cNvCxnSpPr>
          <p:nvPr/>
        </p:nvCxnSpPr>
        <p:spPr>
          <a:xfrm>
            <a:off x="8810094" y="2518917"/>
            <a:ext cx="1451964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E4B4B8C8-199A-B306-740B-61F1AA7DDA43}"/>
              </a:ext>
            </a:extLst>
          </p:cNvPr>
          <p:cNvCxnSpPr>
            <a:cxnSpLocks/>
          </p:cNvCxnSpPr>
          <p:nvPr/>
        </p:nvCxnSpPr>
        <p:spPr>
          <a:xfrm>
            <a:off x="8841590" y="1009162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F5AA06CD-6E41-180F-9FB1-6FA0505FD60B}"/>
              </a:ext>
            </a:extLst>
          </p:cNvPr>
          <p:cNvCxnSpPr>
            <a:cxnSpLocks/>
          </p:cNvCxnSpPr>
          <p:nvPr/>
        </p:nvCxnSpPr>
        <p:spPr>
          <a:xfrm>
            <a:off x="8841590" y="2299760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0D79B803-4490-4383-842E-84BD89F0B2C8}"/>
              </a:ext>
            </a:extLst>
          </p:cNvPr>
          <p:cNvCxnSpPr>
            <a:cxnSpLocks/>
          </p:cNvCxnSpPr>
          <p:nvPr/>
        </p:nvCxnSpPr>
        <p:spPr>
          <a:xfrm>
            <a:off x="8841590" y="2082659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3CF7FF0C-9A00-C569-65FD-57F35288263A}"/>
              </a:ext>
            </a:extLst>
          </p:cNvPr>
          <p:cNvCxnSpPr>
            <a:cxnSpLocks/>
          </p:cNvCxnSpPr>
          <p:nvPr/>
        </p:nvCxnSpPr>
        <p:spPr>
          <a:xfrm>
            <a:off x="8841590" y="1445144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05E82519-3692-896C-1D46-1186AC603FF1}"/>
              </a:ext>
            </a:extLst>
          </p:cNvPr>
          <p:cNvCxnSpPr>
            <a:cxnSpLocks/>
          </p:cNvCxnSpPr>
          <p:nvPr/>
        </p:nvCxnSpPr>
        <p:spPr>
          <a:xfrm>
            <a:off x="8841590" y="1879181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2FE01004-0334-A907-9B35-87AE90B1EDEA}"/>
              </a:ext>
            </a:extLst>
          </p:cNvPr>
          <p:cNvCxnSpPr>
            <a:cxnSpLocks/>
          </p:cNvCxnSpPr>
          <p:nvPr/>
        </p:nvCxnSpPr>
        <p:spPr>
          <a:xfrm>
            <a:off x="8841590" y="1225657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FAEC85E1-7252-64A9-D5B0-8873E30C9D1C}"/>
              </a:ext>
            </a:extLst>
          </p:cNvPr>
          <p:cNvCxnSpPr>
            <a:cxnSpLocks/>
          </p:cNvCxnSpPr>
          <p:nvPr/>
        </p:nvCxnSpPr>
        <p:spPr>
          <a:xfrm>
            <a:off x="8841590" y="1661154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90F80C06-67EA-FBF1-F923-968DA5722466}"/>
              </a:ext>
            </a:extLst>
          </p:cNvPr>
          <p:cNvCxnSpPr>
            <a:cxnSpLocks/>
          </p:cNvCxnSpPr>
          <p:nvPr/>
        </p:nvCxnSpPr>
        <p:spPr>
          <a:xfrm rot="3495345" flipV="1">
            <a:off x="9486543" y="1333694"/>
            <a:ext cx="3315" cy="155399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67175A37-78FB-8AF7-CFA5-A743A8E1DA20}"/>
              </a:ext>
            </a:extLst>
          </p:cNvPr>
          <p:cNvCxnSpPr>
            <a:cxnSpLocks/>
          </p:cNvCxnSpPr>
          <p:nvPr/>
        </p:nvCxnSpPr>
        <p:spPr>
          <a:xfrm rot="34111">
            <a:off x="8816580" y="2523078"/>
            <a:ext cx="1019102" cy="1615253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椭圆 168">
            <a:extLst>
              <a:ext uri="{FF2B5EF4-FFF2-40B4-BE49-F238E27FC236}">
                <a16:creationId xmlns:a16="http://schemas.microsoft.com/office/drawing/2014/main" id="{171AF3CB-B42A-330A-C201-8B7AAE3B6835}"/>
              </a:ext>
            </a:extLst>
          </p:cNvPr>
          <p:cNvSpPr/>
          <p:nvPr/>
        </p:nvSpPr>
        <p:spPr>
          <a:xfrm rot="34111">
            <a:off x="10504217" y="3064017"/>
            <a:ext cx="138951" cy="13895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212" name="图片 211" descr="\documentclass{article}&#10;\usepackage{amsmath}&#10;\pagestyle{empty}&#10;\begin{document}&#10;&#10;$(z_1,z_2)$&#10;&#10;&#10;\end{document}" title="IguanaTex Bitmap Display">
            <a:extLst>
              <a:ext uri="{FF2B5EF4-FFF2-40B4-BE49-F238E27FC236}">
                <a16:creationId xmlns:a16="http://schemas.microsoft.com/office/drawing/2014/main" id="{486D94D4-67D8-1A0F-7887-7AF02742400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818" y="3020711"/>
            <a:ext cx="705762" cy="248653"/>
          </a:xfrm>
          <a:prstGeom prst="rect">
            <a:avLst/>
          </a:prstGeom>
        </p:spPr>
      </p:pic>
      <p:pic>
        <p:nvPicPr>
          <p:cNvPr id="171" name="图片 170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B0456EBE-9AA2-D845-47F6-915F00C8F0E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747" y="2634654"/>
            <a:ext cx="171229" cy="180163"/>
          </a:xfrm>
          <a:prstGeom prst="rect">
            <a:avLst/>
          </a:prstGeom>
        </p:spPr>
      </p:pic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7B9B3F00-BF4E-1D27-BBE4-501B7A5ECBA6}"/>
              </a:ext>
            </a:extLst>
          </p:cNvPr>
          <p:cNvCxnSpPr/>
          <p:nvPr/>
        </p:nvCxnSpPr>
        <p:spPr>
          <a:xfrm rot="3496957">
            <a:off x="9665993" y="2518531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3C326A29-8FD7-58F1-3A98-2EBCECDFCDE6}"/>
              </a:ext>
            </a:extLst>
          </p:cNvPr>
          <p:cNvCxnSpPr/>
          <p:nvPr/>
        </p:nvCxnSpPr>
        <p:spPr>
          <a:xfrm rot="3496957">
            <a:off x="8373735" y="3317187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22C49089-3906-4E8A-ADCE-6C20239DDF69}"/>
              </a:ext>
            </a:extLst>
          </p:cNvPr>
          <p:cNvCxnSpPr/>
          <p:nvPr/>
        </p:nvCxnSpPr>
        <p:spPr>
          <a:xfrm rot="3496957">
            <a:off x="9482202" y="2634102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2891AF1C-4ADE-D343-A4EF-FC235F0EC07A}"/>
              </a:ext>
            </a:extLst>
          </p:cNvPr>
          <p:cNvCxnSpPr/>
          <p:nvPr/>
        </p:nvCxnSpPr>
        <p:spPr>
          <a:xfrm rot="3496957">
            <a:off x="9296639" y="2746803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1392559B-0281-8E69-9B5A-A5ED8164F71E}"/>
              </a:ext>
            </a:extLst>
          </p:cNvPr>
          <p:cNvCxnSpPr/>
          <p:nvPr/>
        </p:nvCxnSpPr>
        <p:spPr>
          <a:xfrm rot="3496957">
            <a:off x="9112123" y="2861201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2660E52C-05F8-475B-4172-28B2437C6E99}"/>
              </a:ext>
            </a:extLst>
          </p:cNvPr>
          <p:cNvCxnSpPr/>
          <p:nvPr/>
        </p:nvCxnSpPr>
        <p:spPr>
          <a:xfrm rot="3496957">
            <a:off x="8927283" y="2975078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F48C5370-AD5B-37B9-E5DF-A545EEF8FAD2}"/>
              </a:ext>
            </a:extLst>
          </p:cNvPr>
          <p:cNvCxnSpPr/>
          <p:nvPr/>
        </p:nvCxnSpPr>
        <p:spPr>
          <a:xfrm rot="3496957">
            <a:off x="8742765" y="3089476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80980DF0-CFF5-8ED7-6D68-5F74335B868B}"/>
              </a:ext>
            </a:extLst>
          </p:cNvPr>
          <p:cNvCxnSpPr/>
          <p:nvPr/>
        </p:nvCxnSpPr>
        <p:spPr>
          <a:xfrm rot="3496957">
            <a:off x="8559702" y="3206224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椭圆 172">
            <a:extLst>
              <a:ext uri="{FF2B5EF4-FFF2-40B4-BE49-F238E27FC236}">
                <a16:creationId xmlns:a16="http://schemas.microsoft.com/office/drawing/2014/main" id="{52956D77-9391-536A-1D51-90BBCE411056}"/>
              </a:ext>
            </a:extLst>
          </p:cNvPr>
          <p:cNvSpPr/>
          <p:nvPr/>
        </p:nvSpPr>
        <p:spPr>
          <a:xfrm>
            <a:off x="9834166" y="1282334"/>
            <a:ext cx="138951" cy="13895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2A507C10-8ABF-5D93-5EDA-1F0D34D1248F}"/>
              </a:ext>
            </a:extLst>
          </p:cNvPr>
          <p:cNvGrpSpPr/>
          <p:nvPr/>
        </p:nvGrpSpPr>
        <p:grpSpPr>
          <a:xfrm>
            <a:off x="3289587" y="1373859"/>
            <a:ext cx="971570" cy="509500"/>
            <a:chOff x="5943782" y="6570580"/>
            <a:chExt cx="1096165" cy="574839"/>
          </a:xfrm>
        </p:grpSpPr>
        <p:pic>
          <p:nvPicPr>
            <p:cNvPr id="188" name="图片 187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BA2CA125-66B9-C81F-1044-18AC0461858B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3782" y="6854897"/>
              <a:ext cx="1096165" cy="290522"/>
            </a:xfrm>
            <a:prstGeom prst="rect">
              <a:avLst/>
            </a:prstGeom>
          </p:spPr>
        </p:pic>
        <p:pic>
          <p:nvPicPr>
            <p:cNvPr id="192" name="图片 191" descr="\documentclass{article}&#10;\usepackage{amsmath}&#10;\pagestyle{empty}&#10;\begin{document}&#10;&#10;$A$&#10;&#10;&#10;\end{document}" title="IguanaTex Bitmap Display">
              <a:extLst>
                <a:ext uri="{FF2B5EF4-FFF2-40B4-BE49-F238E27FC236}">
                  <a16:creationId xmlns:a16="http://schemas.microsoft.com/office/drawing/2014/main" id="{A94BCEEB-031C-9A81-A184-E1A9B19E3AA6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4877" y="6570580"/>
              <a:ext cx="262857" cy="27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8728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44C0E-2063-6CFC-BD62-8B994434E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3FD435E-3074-51D7-C02A-4CD43C681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251" y="204040"/>
            <a:ext cx="5291506" cy="124001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BDEE617-7965-4C66-8976-A0DD74C14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124" y="2165464"/>
            <a:ext cx="9859751" cy="324847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F437477-7767-944F-1142-31CEF8A138D2}"/>
              </a:ext>
            </a:extLst>
          </p:cNvPr>
          <p:cNvSpPr/>
          <p:nvPr/>
        </p:nvSpPr>
        <p:spPr>
          <a:xfrm>
            <a:off x="3688962" y="4180043"/>
            <a:ext cx="2128733" cy="358817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83C94A-4807-66C4-7DF7-3138BDF4DAB1}"/>
              </a:ext>
            </a:extLst>
          </p:cNvPr>
          <p:cNvSpPr/>
          <p:nvPr/>
        </p:nvSpPr>
        <p:spPr>
          <a:xfrm>
            <a:off x="3688962" y="4656771"/>
            <a:ext cx="2128733" cy="358817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975E5D-25D6-13DF-1B4C-B6F3EDF46358}"/>
              </a:ext>
            </a:extLst>
          </p:cNvPr>
          <p:cNvSpPr/>
          <p:nvPr/>
        </p:nvSpPr>
        <p:spPr>
          <a:xfrm>
            <a:off x="6249004" y="4092740"/>
            <a:ext cx="304800" cy="1035955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3A37B9-F4C2-FA09-A663-6946E7274D6E}"/>
              </a:ext>
            </a:extLst>
          </p:cNvPr>
          <p:cNvSpPr/>
          <p:nvPr/>
        </p:nvSpPr>
        <p:spPr>
          <a:xfrm>
            <a:off x="6761593" y="4092740"/>
            <a:ext cx="304800" cy="1035955"/>
          </a:xfrm>
          <a:prstGeom prst="rect">
            <a:avLst/>
          </a:prstGeom>
          <a:solidFill>
            <a:srgbClr val="2F1543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5925B3-65FD-E82A-FF74-33E9CCE3736F}"/>
              </a:ext>
            </a:extLst>
          </p:cNvPr>
          <p:cNvSpPr/>
          <p:nvPr/>
        </p:nvSpPr>
        <p:spPr>
          <a:xfrm>
            <a:off x="7972449" y="4092740"/>
            <a:ext cx="1333299" cy="1035955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443720-E71F-5849-FF81-24D97DD34579}"/>
              </a:ext>
            </a:extLst>
          </p:cNvPr>
          <p:cNvSpPr/>
          <p:nvPr/>
        </p:nvSpPr>
        <p:spPr>
          <a:xfrm>
            <a:off x="9499162" y="4092740"/>
            <a:ext cx="712642" cy="1035955"/>
          </a:xfrm>
          <a:prstGeom prst="rect">
            <a:avLst/>
          </a:prstGeom>
          <a:solidFill>
            <a:srgbClr val="2F1543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7927F7-36E1-500A-B686-DE4B7E3CE3C9}"/>
              </a:ext>
            </a:extLst>
          </p:cNvPr>
          <p:cNvSpPr txBox="1"/>
          <p:nvPr/>
        </p:nvSpPr>
        <p:spPr>
          <a:xfrm>
            <a:off x="946564" y="5531853"/>
            <a:ext cx="6771847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矩阵乘法就是线性变换（映射）的复合</a:t>
            </a:r>
          </a:p>
        </p:txBody>
      </p:sp>
    </p:spTree>
    <p:extLst>
      <p:ext uri="{BB962C8B-B14F-4D97-AF65-F5344CB8AC3E}">
        <p14:creationId xmlns:p14="http://schemas.microsoft.com/office/powerpoint/2010/main" val="2395345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29BD1-C883-7056-237D-067D5C585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F216B758-8337-A591-2D7F-00D9A8692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20" y="293929"/>
            <a:ext cx="6453804" cy="471470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4E3DF63-7428-6649-E6E7-2BB1953ED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46" y="4917434"/>
            <a:ext cx="9554908" cy="177189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B07846B-55F8-0708-5229-152DB8725371}"/>
              </a:ext>
            </a:extLst>
          </p:cNvPr>
          <p:cNvSpPr txBox="1"/>
          <p:nvPr/>
        </p:nvSpPr>
        <p:spPr>
          <a:xfrm>
            <a:off x="7398708" y="1952282"/>
            <a:ext cx="4150290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映射的复合若交换顺序，结果可能不同；矩阵乘法若交换顺序，结果也可能不同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5950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56B05-EEE3-4D05-35D8-5E1695883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6C7D830-3B30-6755-F3A3-F09BA694A456}"/>
              </a:ext>
            </a:extLst>
          </p:cNvPr>
          <p:cNvGrpSpPr/>
          <p:nvPr/>
        </p:nvGrpSpPr>
        <p:grpSpPr>
          <a:xfrm>
            <a:off x="1080551" y="609510"/>
            <a:ext cx="2492294" cy="2569628"/>
            <a:chOff x="350494" y="2892206"/>
            <a:chExt cx="2811908" cy="2899159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27575DC1-ABEE-982C-BB46-F9FA34943EB2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01A73B2C-0A2B-0A93-512B-FBB20DAAFB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图片 6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C1525196-3D21-E9D8-8004-A6B5BF3CE04C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064F6C1-C2DD-DDCD-5B5C-F6CC55E10019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C534BAE2-53D6-90AE-8C1F-EBE06515E11E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2E99F58E-FF8B-BD7F-5BA2-48B41F6D2B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7B191535-F05B-FEF4-3E92-3B89EC0A10FD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A11EA03-DE8E-BB8F-B604-88693CAA5B30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FB12EBAC-1DD8-3245-DFF6-A30D7DC406D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E62C3D1-DDEA-4D4E-4D8C-66E503177ED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A43F4BF9-3B8B-CBDD-C399-83EFF1425925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663B1C4-68FE-52F3-DAF3-569FDEB1505F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8797FEA-4302-CEF2-82B5-083C57450FB6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E262E6CB-E394-C832-F49E-F2B4A143D3E9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D4F2510C-9B78-A50F-A7CD-662F4AFDFA96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1C07187E-58AE-E3A1-1FFA-B4AAE186C41A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21" name="图片 20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F82663BC-F083-3714-1561-C29865F743DE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22" name="图片 21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1202A640-370E-B835-4060-13229A11EC6E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23" name="图片 22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9B33C4A8-16A5-0FC6-4ED6-3513A2305375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DBA94B7-13E1-3355-7D75-CC75876CAAB5}"/>
              </a:ext>
            </a:extLst>
          </p:cNvPr>
          <p:cNvGrpSpPr/>
          <p:nvPr/>
        </p:nvGrpSpPr>
        <p:grpSpPr>
          <a:xfrm>
            <a:off x="4731573" y="554698"/>
            <a:ext cx="3065589" cy="3214430"/>
            <a:chOff x="3847931" y="381450"/>
            <a:chExt cx="3458723" cy="3626652"/>
          </a:xfrm>
        </p:grpSpPr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125EA82D-0033-45CA-6C19-E775CAC9CA9B}"/>
                </a:ext>
              </a:extLst>
            </p:cNvPr>
            <p:cNvCxnSpPr>
              <a:cxnSpLocks/>
            </p:cNvCxnSpPr>
            <p:nvPr/>
          </p:nvCxnSpPr>
          <p:spPr>
            <a:xfrm>
              <a:off x="3847931" y="2730009"/>
              <a:ext cx="3355531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53778609-1C58-75E6-36A3-A0B0410EA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7382" y="514643"/>
              <a:ext cx="0" cy="3493459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图片 26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EDE163D3-AEF1-8B81-B0CE-197DF9A5A0DC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1390" y="2853220"/>
              <a:ext cx="245264" cy="164632"/>
            </a:xfrm>
            <a:prstGeom prst="rect">
              <a:avLst/>
            </a:prstGeom>
          </p:spPr>
        </p:pic>
        <p:pic>
          <p:nvPicPr>
            <p:cNvPr id="28" name="图片 27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2B70AAFA-6D7F-F56C-71FB-EE69085E7F54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8409" y="381450"/>
              <a:ext cx="251987" cy="164632"/>
            </a:xfrm>
            <a:prstGeom prst="rect">
              <a:avLst/>
            </a:prstGeom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3AB47E0D-9316-DDD3-B46A-9D7C68B885FD}"/>
                </a:ext>
              </a:extLst>
            </p:cNvPr>
            <p:cNvSpPr/>
            <p:nvPr/>
          </p:nvSpPr>
          <p:spPr>
            <a:xfrm>
              <a:off x="4376640" y="994355"/>
              <a:ext cx="1622924" cy="1731550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44450">
              <a:solidFill>
                <a:srgbClr val="00B0F0">
                  <a:alpha val="1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3850637-ABDD-D82C-B18D-23F99CE20DA0}"/>
                </a:ext>
              </a:extLst>
            </p:cNvPr>
            <p:cNvCxnSpPr/>
            <p:nvPr/>
          </p:nvCxnSpPr>
          <p:spPr>
            <a:xfrm>
              <a:off x="4376639" y="2728228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32773F06-0AD0-87B3-1B5F-BF228A57D3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6293" y="967522"/>
              <a:ext cx="0" cy="1770885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776E9FA8-0666-85E0-5300-2393BBBF32CA}"/>
                </a:ext>
              </a:extLst>
            </p:cNvPr>
            <p:cNvCxnSpPr>
              <a:cxnSpLocks/>
            </p:cNvCxnSpPr>
            <p:nvPr/>
          </p:nvCxnSpPr>
          <p:spPr>
            <a:xfrm>
              <a:off x="4361423" y="2728222"/>
              <a:ext cx="1638165" cy="0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A449BEA-0FAA-EA70-6473-A06D3503541A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480960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5A41961-711D-E610-8AC9-9B808E312DD6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23601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图片 34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593FE89E-BEF5-B3E8-5B26-41ECED61299B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361" y="2853239"/>
              <a:ext cx="193188" cy="203267"/>
            </a:xfrm>
            <a:prstGeom prst="rect">
              <a:avLst/>
            </a:prstGeom>
          </p:spPr>
        </p:pic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D64A1C31-4232-9993-D00D-8BECD7637711}"/>
                </a:ext>
              </a:extLst>
            </p:cNvPr>
            <p:cNvSpPr/>
            <p:nvPr/>
          </p:nvSpPr>
          <p:spPr>
            <a:xfrm rot="34111">
              <a:off x="5944556" y="1321087"/>
              <a:ext cx="156770" cy="15677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E6A3FDD8-F36F-6BFE-3912-5D21966C4461}"/>
                </a:ext>
              </a:extLst>
            </p:cNvPr>
            <p:cNvGrpSpPr/>
            <p:nvPr/>
          </p:nvGrpSpPr>
          <p:grpSpPr>
            <a:xfrm>
              <a:off x="4351257" y="963599"/>
              <a:ext cx="2198771" cy="1770885"/>
              <a:chOff x="4351238" y="1015426"/>
              <a:chExt cx="2198770" cy="1770885"/>
            </a:xfrm>
          </p:grpSpPr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879B59E7-A439-537D-B63E-1E3136608371}"/>
                  </a:ext>
                </a:extLst>
              </p:cNvPr>
              <p:cNvGrpSpPr/>
              <p:nvPr/>
            </p:nvGrpSpPr>
            <p:grpSpPr>
              <a:xfrm>
                <a:off x="4376292" y="1045548"/>
                <a:ext cx="2150462" cy="1731550"/>
                <a:chOff x="4376292" y="1045548"/>
                <a:chExt cx="2150462" cy="1731550"/>
              </a:xfrm>
            </p:grpSpPr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F626953D-3782-28BA-1820-946195ED85F1}"/>
                    </a:ext>
                  </a:extLst>
                </p:cNvPr>
                <p:cNvSpPr/>
                <p:nvPr/>
              </p:nvSpPr>
              <p:spPr>
                <a:xfrm>
                  <a:off x="4376293" y="1045548"/>
                  <a:ext cx="2146648" cy="1731550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  <a:ln w="44450">
                  <a:solidFill>
                    <a:srgbClr val="0070C0">
                      <a:alpha val="25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 dirty="0"/>
                </a:p>
              </p:txBody>
            </p:sp>
            <p:cxnSp>
              <p:nvCxnSpPr>
                <p:cNvPr id="43" name="直接连接符 42">
                  <a:extLst>
                    <a:ext uri="{FF2B5EF4-FFF2-40B4-BE49-F238E27FC236}">
                      <a16:creationId xmlns:a16="http://schemas.microsoft.com/office/drawing/2014/main" id="{33E048B0-60EA-6A2F-B563-7F487AD3FB82}"/>
                    </a:ext>
                  </a:extLst>
                </p:cNvPr>
                <p:cNvCxnSpPr/>
                <p:nvPr/>
              </p:nvCxnSpPr>
              <p:spPr>
                <a:xfrm>
                  <a:off x="4376292" y="106314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117B77E2-9C1F-9B4E-AF52-3DBA7B7FDC42}"/>
                    </a:ext>
                  </a:extLst>
                </p:cNvPr>
                <p:cNvCxnSpPr/>
                <p:nvPr/>
              </p:nvCxnSpPr>
              <p:spPr>
                <a:xfrm>
                  <a:off x="4376292" y="277709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CC69B284-336E-A59E-249B-7E7A8A83CFC4}"/>
                    </a:ext>
                  </a:extLst>
                </p:cNvPr>
                <p:cNvCxnSpPr/>
                <p:nvPr/>
              </p:nvCxnSpPr>
              <p:spPr>
                <a:xfrm>
                  <a:off x="4378195" y="1308085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5DA05F84-0A91-5CFA-E213-9D5E7C846D7E}"/>
                    </a:ext>
                  </a:extLst>
                </p:cNvPr>
                <p:cNvCxnSpPr/>
                <p:nvPr/>
              </p:nvCxnSpPr>
              <p:spPr>
                <a:xfrm>
                  <a:off x="4376292" y="1553027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55E65CE9-51E6-0F6F-B396-131CF24486C6}"/>
                    </a:ext>
                  </a:extLst>
                </p:cNvPr>
                <p:cNvCxnSpPr/>
                <p:nvPr/>
              </p:nvCxnSpPr>
              <p:spPr>
                <a:xfrm>
                  <a:off x="4376638" y="1797969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6F20F5CD-6D8A-99D1-C4EF-469D005120F2}"/>
                    </a:ext>
                  </a:extLst>
                </p:cNvPr>
                <p:cNvCxnSpPr/>
                <p:nvPr/>
              </p:nvCxnSpPr>
              <p:spPr>
                <a:xfrm>
                  <a:off x="4376293" y="204291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>
                  <a:extLst>
                    <a:ext uri="{FF2B5EF4-FFF2-40B4-BE49-F238E27FC236}">
                      <a16:creationId xmlns:a16="http://schemas.microsoft.com/office/drawing/2014/main" id="{762ECABC-620B-A5FC-14BE-89AAFBB87D4A}"/>
                    </a:ext>
                  </a:extLst>
                </p:cNvPr>
                <p:cNvCxnSpPr/>
                <p:nvPr/>
              </p:nvCxnSpPr>
              <p:spPr>
                <a:xfrm>
                  <a:off x="4376638" y="228785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29A04CFD-5353-C356-B1F6-768BD1FB07AE}"/>
                    </a:ext>
                  </a:extLst>
                </p:cNvPr>
                <p:cNvCxnSpPr/>
                <p:nvPr/>
              </p:nvCxnSpPr>
              <p:spPr>
                <a:xfrm>
                  <a:off x="4380103" y="2532800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85E4ABDC-9043-7969-7D09-ABC688F0A8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1238" y="2779638"/>
                <a:ext cx="2198770" cy="0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D7E2332D-3ACE-FC04-7635-2366C4D27E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76292" y="1015426"/>
                <a:ext cx="0" cy="177088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8B44070C-44D7-3FB0-8AAA-46D060EC9029}"/>
                </a:ext>
              </a:extLst>
            </p:cNvPr>
            <p:cNvSpPr/>
            <p:nvPr/>
          </p:nvSpPr>
          <p:spPr>
            <a:xfrm>
              <a:off x="5516812" y="1321055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36D47CDB-CF01-D281-8189-A105CF486E42}"/>
              </a:ext>
            </a:extLst>
          </p:cNvPr>
          <p:cNvGrpSpPr/>
          <p:nvPr/>
        </p:nvGrpSpPr>
        <p:grpSpPr>
          <a:xfrm>
            <a:off x="7705699" y="1493640"/>
            <a:ext cx="971570" cy="509500"/>
            <a:chOff x="7211410" y="1362117"/>
            <a:chExt cx="971570" cy="509500"/>
          </a:xfrm>
        </p:grpSpPr>
        <p:pic>
          <p:nvPicPr>
            <p:cNvPr id="52" name="图片 51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739048AF-64F2-F79D-82B6-272C8C9E2175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1410" y="1614117"/>
              <a:ext cx="971570" cy="257500"/>
            </a:xfrm>
            <a:prstGeom prst="rect">
              <a:avLst/>
            </a:prstGeom>
          </p:spPr>
        </p:pic>
        <p:pic>
          <p:nvPicPr>
            <p:cNvPr id="53" name="图片 52" descr="\documentclass{article}&#10;\usepackage{amsmath}&#10;\pagestyle{empty}&#10;\begin{document}&#10;&#10;$A^{-1}$&#10;&#10;&#10;\end{document}" title="IguanaTex Bitmap Display">
              <a:extLst>
                <a:ext uri="{FF2B5EF4-FFF2-40B4-BE49-F238E27FC236}">
                  <a16:creationId xmlns:a16="http://schemas.microsoft.com/office/drawing/2014/main" id="{53A1F7E0-FE6A-A5F6-2B04-0279827F4992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8001" y="1362117"/>
              <a:ext cx="563203" cy="277550"/>
            </a:xfrm>
            <a:prstGeom prst="rect">
              <a:avLst/>
            </a:prstGeom>
          </p:spPr>
        </p:pic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9D5D856E-A4A8-556F-25DA-B0CE3BAE7025}"/>
              </a:ext>
            </a:extLst>
          </p:cNvPr>
          <p:cNvGrpSpPr/>
          <p:nvPr/>
        </p:nvGrpSpPr>
        <p:grpSpPr>
          <a:xfrm>
            <a:off x="3607485" y="1505382"/>
            <a:ext cx="971570" cy="509500"/>
            <a:chOff x="5943782" y="6570580"/>
            <a:chExt cx="1096165" cy="574839"/>
          </a:xfrm>
        </p:grpSpPr>
        <p:pic>
          <p:nvPicPr>
            <p:cNvPr id="55" name="图片 54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9CC992EB-F566-EE1F-5C88-D0ACA000F2A4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3782" y="6854897"/>
              <a:ext cx="1096165" cy="290522"/>
            </a:xfrm>
            <a:prstGeom prst="rect">
              <a:avLst/>
            </a:prstGeom>
          </p:spPr>
        </p:pic>
        <p:pic>
          <p:nvPicPr>
            <p:cNvPr id="56" name="图片 55" descr="\documentclass{article}&#10;\usepackage{amsmath}&#10;\pagestyle{empty}&#10;\begin{document}&#10;&#10;$A$&#10;&#10;&#10;\end{document}" title="IguanaTex Bitmap Display">
              <a:extLst>
                <a:ext uri="{FF2B5EF4-FFF2-40B4-BE49-F238E27FC236}">
                  <a16:creationId xmlns:a16="http://schemas.microsoft.com/office/drawing/2014/main" id="{16A48DB0-3E72-9BF9-FC82-88F8CEF64879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4877" y="6570580"/>
              <a:ext cx="262857" cy="272000"/>
            </a:xfrm>
            <a:prstGeom prst="rect">
              <a:avLst/>
            </a:prstGeom>
          </p:spPr>
        </p:pic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7D77E05D-3060-483F-8C13-53C69BE84490}"/>
              </a:ext>
            </a:extLst>
          </p:cNvPr>
          <p:cNvGrpSpPr/>
          <p:nvPr/>
        </p:nvGrpSpPr>
        <p:grpSpPr>
          <a:xfrm>
            <a:off x="8763109" y="609510"/>
            <a:ext cx="2492294" cy="2569628"/>
            <a:chOff x="350494" y="2892206"/>
            <a:chExt cx="2811908" cy="2899159"/>
          </a:xfrm>
        </p:grpSpPr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1E056DF3-A81F-F4F5-9ABB-33B8BAF1AD86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200A1588-098D-C319-B401-4FE487213D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图片 59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6FF7A18A-732C-86D9-FF0F-9EE066F4F44A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A32F256A-DE61-945B-0C93-54449375A342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E3C351EA-66D2-ACD0-5BEE-E8CC8E24147E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9A114359-A082-3EDA-70D9-BE290DE9FA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CB29D77F-156F-651E-A045-3D4219FE5756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34AB637B-A7AE-4A70-49FF-4C0C5800F880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AAB3FF4D-D23C-E3FA-644B-9E164DBE169F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B2AF5BB0-D14A-D8EC-2E54-3DECD2A5A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38E36951-B585-3C8C-87F5-E078BEF2D1D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ABDB8F24-85FD-D261-C778-0D9F6F6FEC0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682F98C9-4BE8-1840-37DE-B7E8B82AA2E2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F390362-5679-3A6A-E9CF-86B6653DDA9D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77D9D0F8-98C5-2E59-7D80-965C44A9DFA8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1D3A2B4C-51F6-F867-05E5-BA2BC5F7D3F9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74" name="图片 73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C2AF813D-00BF-3462-DF26-FCB181C6A5B7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75" name="图片 74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C8DA6F69-04CD-67EF-6BF6-1F1887469F96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76" name="图片 75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BFA9D6CF-4BDD-55CC-8D17-49952F647A35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pic>
        <p:nvPicPr>
          <p:cNvPr id="78" name="图片 77">
            <a:extLst>
              <a:ext uri="{FF2B5EF4-FFF2-40B4-BE49-F238E27FC236}">
                <a16:creationId xmlns:a16="http://schemas.microsoft.com/office/drawing/2014/main" id="{CA256806-263D-0B66-FB43-A9DD2D7CFB3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6935" y="3355137"/>
            <a:ext cx="10718129" cy="1759693"/>
          </a:xfrm>
          <a:prstGeom prst="rect">
            <a:avLst/>
          </a:prstGeom>
        </p:spPr>
      </p:pic>
      <p:pic>
        <p:nvPicPr>
          <p:cNvPr id="3" name="图片 2" descr="\documentclass{article}&#10;\usepackage{amsmath}&#10;\usepackage{bm}&#10;\pagestyle{empty}&#10;\begin{document}&#10;&#10;\begin{align}&#10;AA^{-1} = I_2 =&#10;\begin{pmatrix}&#10;1 &amp; 0 \\[4pt]&#10;0 &amp; 1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0330D23-2756-C3F8-6B60-FB6C45F9871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76" y="5358775"/>
            <a:ext cx="3488780" cy="1108052"/>
          </a:xfrm>
          <a:prstGeom prst="rect">
            <a:avLst/>
          </a:prstGeom>
        </p:spPr>
      </p:pic>
      <p:sp>
        <p:nvSpPr>
          <p:cNvPr id="84" name="文本框 5">
            <a:extLst>
              <a:ext uri="{FF2B5EF4-FFF2-40B4-BE49-F238E27FC236}">
                <a16:creationId xmlns:a16="http://schemas.microsoft.com/office/drawing/2014/main" id="{BBA6A914-D8B1-891D-D6D8-5CC5140DA862}"/>
              </a:ext>
            </a:extLst>
          </p:cNvPr>
          <p:cNvSpPr txBox="1"/>
          <p:nvPr/>
        </p:nvSpPr>
        <p:spPr>
          <a:xfrm>
            <a:off x="5451511" y="5457114"/>
            <a:ext cx="6623195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一个矩阵与其逆矩阵的乘积是单位矩阵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8385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55790-0C74-BF91-27FE-E0F6AFC55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29006C9-EC1D-FA7F-D754-6125C2DF9F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5" t="-13652" r="-785" b="13652"/>
          <a:stretch>
            <a:fillRect/>
          </a:stretch>
        </p:blipFill>
        <p:spPr>
          <a:xfrm>
            <a:off x="1733448" y="-765772"/>
            <a:ext cx="8725104" cy="5855932"/>
          </a:xfrm>
          <a:prstGeom prst="rect">
            <a:avLst/>
          </a:prstGeom>
        </p:spPr>
      </p:pic>
      <p:sp>
        <p:nvSpPr>
          <p:cNvPr id="3" name="文本框 5">
            <a:extLst>
              <a:ext uri="{FF2B5EF4-FFF2-40B4-BE49-F238E27FC236}">
                <a16:creationId xmlns:a16="http://schemas.microsoft.com/office/drawing/2014/main" id="{9FF0C2AE-C77C-C19D-7512-12ADE4C76059}"/>
              </a:ext>
            </a:extLst>
          </p:cNvPr>
          <p:cNvSpPr txBox="1"/>
          <p:nvPr/>
        </p:nvSpPr>
        <p:spPr>
          <a:xfrm>
            <a:off x="1260511" y="5349240"/>
            <a:ext cx="9956129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一个矩阵的列向量组就是标准正交基在线性映射下的像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标准正交基在线性变换下的像可以唯一确定一个线性映射（矩阵）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190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A124B-3CA5-5FA3-92E7-A4D4FD8B7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>
            <a:extLst>
              <a:ext uri="{FF2B5EF4-FFF2-40B4-BE49-F238E27FC236}">
                <a16:creationId xmlns:a16="http://schemas.microsoft.com/office/drawing/2014/main" id="{1AE12461-F340-1760-42DA-2A0B6B56AD54}"/>
              </a:ext>
            </a:extLst>
          </p:cNvPr>
          <p:cNvSpPr txBox="1"/>
          <p:nvPr/>
        </p:nvSpPr>
        <p:spPr>
          <a:xfrm>
            <a:off x="788071" y="473245"/>
            <a:ext cx="9956129" cy="554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总结：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线性代数研究“平直均匀”的运动和变换，即线性映射（线性变换），非线性映射通过局部化和近似化变成线性映射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线性映射（变换）就是线性方程组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矩阵就是线性映射，线性映射就是矩阵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一个矩阵的列向量组就是标准正交基在线性映射下的像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线性映射（变换），矩阵，向量组中的性质可以“相互”翻译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线性方程组中的结论也是在研究这些东西的性质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34894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55.4556"/>
  <p:tag name="LATEXADDIN" val="\documentclass{article}&#10;\usepackage{amsmath}&#10;\pagestyle{empty}&#10;\begin{document}&#10;&#10;$(z_1,z_2)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6.23921"/>
  <p:tag name="LATEXADDIN" val="\documentclass{article}&#10;\usepackage{amsmath}&#10;\pagestyle{empty}&#10;\begin{document}&#10;&#10;$A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89.98874"/>
  <p:tag name="LATEXADDIN" val="\documentclass{article}&#10;\usepackage{amsmath}&#10;\pagestyle{empty}&#10;\begin{document}&#10;&#10;$B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.2354"/>
  <p:tag name="ORIGINALWIDTH" val="542.9321"/>
  <p:tag name="LATEXADDIN" val="\documentclass{article}&#10;\usepackage{amsmath}&#10;\pagestyle{empty}&#10;\begin{document}&#10;&#10;$BA \ne AB$&#10;&#10;&#10;\end{document}"/>
  <p:tag name="IGUANATEXSIZE" val="20"/>
  <p:tag name="IGUANATEXCURSOR" val="9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6.23921"/>
  <p:tag name="LATEXADDIN" val="\documentclass{article}&#10;\usepackage{amsmath}&#10;\pagestyle{empty}&#10;\begin{document}&#10;&#10;$A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.7372"/>
  <p:tag name="ORIGINALWIDTH" val="208.4739"/>
  <p:tag name="LATEXADDIN" val="\documentclass{article}&#10;\usepackage{amsmath}&#10;\pagestyle{empty}&#10;\begin{document}&#10;&#10;$A^{-1}$&#10;&#10;&#10;\end{document}"/>
  <p:tag name="IGUANATEXSIZE" val="30"/>
  <p:tag name="IGUANATEXCURSOR" val="8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9.74126"/>
  <p:tag name="ORIGINALWIDTH" val="215.2231"/>
  <p:tag name="LATEXADDIN" val="\documentclass{article}&#10;\usepackage{amsmath}&#10;\pagestyle{empty}&#10;\begin{document}&#10;&#10;&#10;$\Longleftrightarrow$&#10;&#10;\end{document}"/>
  <p:tag name="IGUANATEXSIZE" val="20"/>
  <p:tag name="IGUANATEXCURSOR" val="9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55.4556"/>
  <p:tag name="LATEXADDIN" val="\documentclass{article}&#10;\usepackage{amsmath}&#10;\pagestyle{empty}&#10;\begin{document}&#10;&#10;$(z_1,z_2)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6.23921"/>
  <p:tag name="LATEXADDIN" val="\documentclass{article}&#10;\usepackage{amsmath}&#10;\pagestyle{empty}&#10;\begin{document}&#10;&#10;$A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89.98874"/>
  <p:tag name="LATEXADDIN" val="\documentclass{article}&#10;\usepackage{amsmath}&#10;\pagestyle{empty}&#10;\begin{document}&#10;&#10;$B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175.853"/>
  <p:tag name="LATEXADDIN" val="\documentclass{article}&#10;\usepackage{amsmath}&#10;\usepackage{bm}&#10;\pagestyle{empty}&#10;\begin{document}&#10;&#10;\begin{align}&#10;AA^{-1} = I_2 =&#10;\begin{pmatrix}&#10;1 &amp; 0 \\[4pt]&#10;0 &amp; 1&#10;\end{pmatrix}&#10;\nonumber&#10;\end{align}&#10;&#10;\end{document}"/>
  <p:tag name="IGUANATEXSIZE" val="30"/>
  <p:tag name="IGUANATEXCURSOR" val="12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6.23921"/>
  <p:tag name="LATEXADDIN" val="\documentclass{article}&#10;\usepackage{amsmath}&#10;\pagestyle{empty}&#10;\begin{document}&#10;&#10;$A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.7372"/>
  <p:tag name="ORIGINALWIDTH" val="208.4739"/>
  <p:tag name="LATEXADDIN" val="\documentclass{article}&#10;\usepackage{amsmath}&#10;\pagestyle{empty}&#10;\begin{document}&#10;&#10;$A^{-1}$&#10;&#10;&#10;\end{document}"/>
  <p:tag name="IGUANATEXSIZE" val="30"/>
  <p:tag name="IGUANATEXCURSOR" val="8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411</Words>
  <Application>Microsoft Office PowerPoint</Application>
  <PresentationFormat>宽屏</PresentationFormat>
  <Paragraphs>46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等线</vt:lpstr>
      <vt:lpstr>等线 Light</vt:lpstr>
      <vt:lpstr>黑体</vt:lpstr>
      <vt:lpstr>宋体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lrj</dc:creator>
  <cp:lastModifiedBy>lrj</cp:lastModifiedBy>
  <cp:revision>12</cp:revision>
  <dcterms:created xsi:type="dcterms:W3CDTF">2025-10-26T00:13:23Z</dcterms:created>
  <dcterms:modified xsi:type="dcterms:W3CDTF">2026-04-05T02:58:50Z</dcterms:modified>
</cp:coreProperties>
</file>