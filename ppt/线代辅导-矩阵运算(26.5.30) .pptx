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6" r:id="rId2"/>
    <p:sldId id="277" r:id="rId3"/>
    <p:sldId id="27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1543"/>
    <a:srgbClr val="4C21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592" autoAdjust="0"/>
  </p:normalViewPr>
  <p:slideViewPr>
    <p:cSldViewPr snapToGrid="0">
      <p:cViewPr varScale="1">
        <p:scale>
          <a:sx n="64" d="100"/>
          <a:sy n="64" d="100"/>
        </p:scale>
        <p:origin x="6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47E69-19FA-4CB8-8297-57ABAF383038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7A0A9-BF48-49B9-A29D-3174C8DA0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23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B326A-83FA-B83D-9EE2-494AA34D8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459E1E-D8F1-9309-2782-0361E03BE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667128-810B-1F54-01D2-B497A611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E39364-ACC9-CA04-202F-F8519BB8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57ADD-F9FA-6F3B-6C6F-DB3119E1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46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DAA0C-57F6-ED73-2AEA-40B68A73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72A5F-7D25-7CC4-F5CE-C32F82BA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A5231C-6DDE-D341-11C9-C5820FD5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481D57-30CD-F492-D122-6783FD14C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9F328E-40CE-4BD2-FBC9-86DD51BB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52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6FB81-F72B-2001-EA17-E2480A2F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9BF193-0B02-4C8C-B16D-604A6C7EA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F1ABD6-B441-C141-3C80-71AA4472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063BAF-877D-C365-A6EA-EFC58943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89BE8-75DA-F421-2B5A-A43CB983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298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98A35-F457-1EB4-C0AA-32E73940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AC9AA-B13B-A1D3-DA01-61F826582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3D6DE8-3275-4ED5-FBC1-B713235A5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A7405F-BBEC-CAB3-AB3C-FDA262F1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0F0BA3-BD50-CF61-21BE-364FB6C9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D3DDD2-A123-E338-3BFB-C0B03E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41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ACD0C-5074-56BD-AB91-248CF7347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24055D-D949-5220-1600-CFEA21813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B1183C-524D-E096-34C8-6FB2AE4FC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74E466-C2C1-1E02-D3F6-3FBB7C9D5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41578E-8D2E-7B26-457F-4808CFAE2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8870C8-AADE-D57D-F8E0-62E8013B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50D9B9-E6DA-3F30-A300-0FE73B87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DCFB07-4AE1-6BEB-251E-2C9FF2A7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49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1330C-8CDA-AC69-A7F6-094934059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038417-B5BC-9B1C-20CC-DC7881AB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ACB849-8DFD-C7CB-3D95-1AC0F35A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7BDC2F-4255-BE11-295E-0F81568A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96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7F24A4-1774-FD43-3EDC-ABBAE45C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150C1C-CF2D-ACB8-14FC-A4A1744B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5F1E06-3213-B5C6-B242-2513505C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63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4F7F4-FBA2-D5B0-20CA-09DF0D5F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882659-EB13-76DC-D70B-28C31D8B9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985194-D317-86B1-CE85-BC323A9F6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111627-6E1D-DE45-6466-8CD4B6DC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84F075-A4A0-B2A5-EE6E-3B69B910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7A3844-B2B6-C942-EE05-FB7CAC11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56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C3408-1F55-8854-E8AA-10F33A6E1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C1C509-1011-CBD0-5EDB-E69C5933E2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73D895-1427-C272-4E64-2654581F3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0DD75F-39B1-4885-3779-6E9FBEA0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BE290D-98F2-02D7-5371-BA1420984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5B4DBF-EF60-E726-C81D-C4EC5DC9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21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2C752-1B51-D109-3034-8961DA08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569E59-F8AF-AA55-F41D-E42DE7773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4AF6FF-3543-256D-8612-4C2F424D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33E6F-E27C-CD76-DB4B-31A85D2DA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68F9A0-1CD2-CFC5-32DE-8308CD67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76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4BD213-287C-B19E-AFDB-0D09344778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916C44-6E81-0627-5B8C-9838F29CE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FCA91-6CD3-C67A-FE4F-2252B4FB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BA20E6-DA0C-77C2-821D-45510156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E8AAA7-7271-D286-22E8-81C33B5A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92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559BBE-A2CC-42BF-FE53-539F156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AA0754-0FD5-CA3C-5285-0688EB240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AA4768-FAF9-7878-F4DC-77ECC89DF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90C73-9E8C-4CB1-BF34-D5E84A616C6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2552E4-E095-C326-9EB7-48D25E97D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95BC13-8DCE-3FF9-8F41-F2DC1E5ED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31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1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1.png"/><Relationship Id="rId5" Type="http://schemas.openxmlformats.org/officeDocument/2006/relationships/tags" Target="../tags/tag5.xml"/><Relationship Id="rId10" Type="http://schemas.openxmlformats.org/officeDocument/2006/relationships/image" Target="../media/image10.png"/><Relationship Id="rId4" Type="http://schemas.openxmlformats.org/officeDocument/2006/relationships/tags" Target="../tags/tag4.xml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4CAA-F447-DB5B-D206-C1766EC03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E30A66F9-1FB7-CFB1-C628-668FB893BA77}"/>
              </a:ext>
            </a:extLst>
          </p:cNvPr>
          <p:cNvSpPr txBox="1"/>
          <p:nvPr/>
        </p:nvSpPr>
        <p:spPr>
          <a:xfrm>
            <a:off x="301310" y="955095"/>
            <a:ext cx="5227052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春线性代数学业辅导</a:t>
            </a:r>
            <a:endParaRPr lang="en-US" altLang="zh-CN" sz="32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8D39E0C9-1AE4-9FF5-BC13-9C33982A4F44}"/>
              </a:ext>
            </a:extLst>
          </p:cNvPr>
          <p:cNvSpPr txBox="1"/>
          <p:nvPr/>
        </p:nvSpPr>
        <p:spPr>
          <a:xfrm>
            <a:off x="1908732" y="1690489"/>
            <a:ext cx="2012208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2026.5.30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0D3747F-A28D-5132-74CA-6D7BEA725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651" y="2922879"/>
            <a:ext cx="2638054" cy="307944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90C6450-BCCD-403F-EA5B-1E8E8C12FEA6}"/>
              </a:ext>
            </a:extLst>
          </p:cNvPr>
          <p:cNvSpPr/>
          <p:nvPr/>
        </p:nvSpPr>
        <p:spPr>
          <a:xfrm>
            <a:off x="387724" y="799995"/>
            <a:ext cx="5054224" cy="15816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F825066-4F74-0FDE-D816-3991E38AE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973" y="1104878"/>
            <a:ext cx="2095910" cy="236134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743EA13-834C-ACF6-F59C-6D33FBB12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936" y="1104878"/>
            <a:ext cx="2919154" cy="232412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55DAC48-FFB0-D734-13F3-1798C0B72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77788"/>
            <a:ext cx="5744523" cy="197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7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2155E-75F5-EED2-2B57-E9A67696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矩阵运算的魅力：如何用简单的数学构建强大的神经网络？_神经网络矩阵计算原理-CSDN博客">
            <a:extLst>
              <a:ext uri="{FF2B5EF4-FFF2-40B4-BE49-F238E27FC236}">
                <a16:creationId xmlns:a16="http://schemas.microsoft.com/office/drawing/2014/main" id="{871A9D98-92E1-53DD-F234-B40C298BA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58" y="681005"/>
            <a:ext cx="4921584" cy="273877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8230F52-4D21-4994-FE22-AFB5E6334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58" y="3608688"/>
            <a:ext cx="4904612" cy="24905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41FB75D-B517-7C95-F1EC-E7B0AFFB7C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5" t="-13652" r="-785" b="13652"/>
          <a:stretch>
            <a:fillRect/>
          </a:stretch>
        </p:blipFill>
        <p:spPr>
          <a:xfrm>
            <a:off x="5811253" y="2137526"/>
            <a:ext cx="6107110" cy="409884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2526EF2-BB80-C39C-86A2-B99865457E7C}"/>
              </a:ext>
            </a:extLst>
          </p:cNvPr>
          <p:cNvSpPr txBox="1"/>
          <p:nvPr/>
        </p:nvSpPr>
        <p:spPr>
          <a:xfrm>
            <a:off x="5868945" y="681005"/>
            <a:ext cx="5991726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矩阵：线性映射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列向量组：标准正交基在映射下的像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矩阵的秩：像空间的维数</a:t>
            </a:r>
          </a:p>
        </p:txBody>
      </p:sp>
    </p:spTree>
    <p:extLst>
      <p:ext uri="{BB962C8B-B14F-4D97-AF65-F5344CB8AC3E}">
        <p14:creationId xmlns:p14="http://schemas.microsoft.com/office/powerpoint/2010/main" val="943661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F835B-82A6-B227-1C48-20EF6B220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28C5B19-D8C2-1F5C-7BCC-C30B7ECC68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821" y="526802"/>
            <a:ext cx="5532366" cy="250696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9A03725-2B40-113D-6193-41066FEB26A1}"/>
              </a:ext>
            </a:extLst>
          </p:cNvPr>
          <p:cNvSpPr/>
          <p:nvPr/>
        </p:nvSpPr>
        <p:spPr>
          <a:xfrm>
            <a:off x="1987188" y="1044108"/>
            <a:ext cx="2517732" cy="320965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EA1491-EB8D-7E80-4DD5-EF724F05CD5E}"/>
              </a:ext>
            </a:extLst>
          </p:cNvPr>
          <p:cNvSpPr/>
          <p:nvPr/>
        </p:nvSpPr>
        <p:spPr>
          <a:xfrm>
            <a:off x="1987188" y="1422227"/>
            <a:ext cx="2517732" cy="320965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41D57C-A252-22D9-579C-A91746C04E3D}"/>
              </a:ext>
            </a:extLst>
          </p:cNvPr>
          <p:cNvSpPr/>
          <p:nvPr/>
        </p:nvSpPr>
        <p:spPr>
          <a:xfrm>
            <a:off x="1987188" y="2355467"/>
            <a:ext cx="2517732" cy="320965"/>
          </a:xfrm>
          <a:prstGeom prst="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70DE16-9E3B-8C30-7FE6-FED90A5890EE}"/>
              </a:ext>
            </a:extLst>
          </p:cNvPr>
          <p:cNvSpPr/>
          <p:nvPr/>
        </p:nvSpPr>
        <p:spPr>
          <a:xfrm>
            <a:off x="783228" y="1044108"/>
            <a:ext cx="468056" cy="320965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A24719-8D63-DF55-4421-7891593A0F47}"/>
              </a:ext>
            </a:extLst>
          </p:cNvPr>
          <p:cNvSpPr/>
          <p:nvPr/>
        </p:nvSpPr>
        <p:spPr>
          <a:xfrm>
            <a:off x="783228" y="1422227"/>
            <a:ext cx="468056" cy="320965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A10391-5FF3-6776-85F7-AE9D972C5C38}"/>
              </a:ext>
            </a:extLst>
          </p:cNvPr>
          <p:cNvSpPr/>
          <p:nvPr/>
        </p:nvSpPr>
        <p:spPr>
          <a:xfrm>
            <a:off x="783228" y="2355467"/>
            <a:ext cx="468056" cy="320965"/>
          </a:xfrm>
          <a:prstGeom prst="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7839AF-077E-F2DB-B201-E865AB33E87A}"/>
              </a:ext>
            </a:extLst>
          </p:cNvPr>
          <p:cNvSpPr/>
          <p:nvPr/>
        </p:nvSpPr>
        <p:spPr>
          <a:xfrm>
            <a:off x="4958765" y="814121"/>
            <a:ext cx="399476" cy="2063699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 descr="\documentclass{article}&#10;\usepackage{amsmath}&#10;\usepackage{bm}&#10;\pagestyle{empty}&#10;\begin{document}&#10;&#10;$\bm{y} ~= ~~~~~A \bm{x}$&#10;&#10;&#10;\end{document}" title="IguanaTex Bitmap Display">
            <a:extLst>
              <a:ext uri="{FF2B5EF4-FFF2-40B4-BE49-F238E27FC236}">
                <a16:creationId xmlns:a16="http://schemas.microsoft.com/office/drawing/2014/main" id="{68CC951B-4D13-C43F-8AD8-7D89ED20D3F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92" y="3033766"/>
            <a:ext cx="3010286" cy="52457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6442A6D-A436-5A80-6C3A-ADC509B323D0}"/>
              </a:ext>
            </a:extLst>
          </p:cNvPr>
          <p:cNvSpPr txBox="1"/>
          <p:nvPr/>
        </p:nvSpPr>
        <p:spPr>
          <a:xfrm>
            <a:off x="2435789" y="341208"/>
            <a:ext cx="2296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矩阵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53E397-A09D-6E91-678A-959B2A48EF51}"/>
              </a:ext>
            </a:extLst>
          </p:cNvPr>
          <p:cNvSpPr txBox="1"/>
          <p:nvPr/>
        </p:nvSpPr>
        <p:spPr>
          <a:xfrm>
            <a:off x="4504920" y="341208"/>
            <a:ext cx="2296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维向量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E45B79-8DCC-4AAF-BBDA-3BC2475C3912}"/>
              </a:ext>
            </a:extLst>
          </p:cNvPr>
          <p:cNvSpPr txBox="1"/>
          <p:nvPr/>
        </p:nvSpPr>
        <p:spPr>
          <a:xfrm>
            <a:off x="378689" y="341208"/>
            <a:ext cx="2296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维向量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0A61858-FDB6-C7B8-3B7C-B3E82DF3B3BB}"/>
              </a:ext>
            </a:extLst>
          </p:cNvPr>
          <p:cNvSpPr/>
          <p:nvPr/>
        </p:nvSpPr>
        <p:spPr>
          <a:xfrm>
            <a:off x="9731514" y="1526468"/>
            <a:ext cx="1378084" cy="996377"/>
          </a:xfrm>
          <a:prstGeom prst="ellipse">
            <a:avLst/>
          </a:prstGeom>
          <a:solidFill>
            <a:schemeClr val="tx1">
              <a:alpha val="5000"/>
            </a:schemeClr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 descr="\documentclass{article}&#10;\usepackage{amsmath}&#10;\usepackage{amsfonts}&#10;\pagestyle{empty}&#10;\begin{document}&#10;&#10;$\mathbb{K}^n$&#10;&#10;&#10;\end{document}" title="IguanaTex Bitmap Display">
            <a:extLst>
              <a:ext uri="{FF2B5EF4-FFF2-40B4-BE49-F238E27FC236}">
                <a16:creationId xmlns:a16="http://schemas.microsoft.com/office/drawing/2014/main" id="{31B82B3E-FA83-FD25-8DC9-695F1E3C843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7478" y="454009"/>
            <a:ext cx="464000" cy="260571"/>
          </a:xfrm>
          <a:prstGeom prst="rect">
            <a:avLst/>
          </a:prstGeom>
        </p:spPr>
      </p:pic>
      <p:pic>
        <p:nvPicPr>
          <p:cNvPr id="25" name="图片 24" descr="\documentclass{article}&#10;\usepackage{amsmath}&#10;\usepackage{amsfonts}&#10;\pagestyle{empty}&#10;\begin{document}&#10;&#10;$\mathbb{K}^m$&#10;&#10;&#10;\end{document}" title="IguanaTex Bitmap Display">
            <a:extLst>
              <a:ext uri="{FF2B5EF4-FFF2-40B4-BE49-F238E27FC236}">
                <a16:creationId xmlns:a16="http://schemas.microsoft.com/office/drawing/2014/main" id="{840E9FE1-A0BB-77C9-744E-976946BA045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938" y="454011"/>
            <a:ext cx="546286" cy="260571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B8277B27-B9A6-DA2C-A387-A2C747625113}"/>
              </a:ext>
            </a:extLst>
          </p:cNvPr>
          <p:cNvSpPr/>
          <p:nvPr/>
        </p:nvSpPr>
        <p:spPr>
          <a:xfrm>
            <a:off x="6562899" y="870570"/>
            <a:ext cx="2308175" cy="2308175"/>
          </a:xfrm>
          <a:prstGeom prst="rect">
            <a:avLst/>
          </a:prstGeom>
          <a:solidFill>
            <a:schemeClr val="tx1">
              <a:alpha val="5000"/>
            </a:schemeClr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BF14483-D332-E37E-A90E-486F43CE98E7}"/>
              </a:ext>
            </a:extLst>
          </p:cNvPr>
          <p:cNvSpPr/>
          <p:nvPr/>
        </p:nvSpPr>
        <p:spPr>
          <a:xfrm>
            <a:off x="9266469" y="870570"/>
            <a:ext cx="2308175" cy="2308175"/>
          </a:xfrm>
          <a:prstGeom prst="rect">
            <a:avLst/>
          </a:prstGeom>
          <a:noFill/>
          <a:ln w="444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418072A-52EA-67B6-2AA2-BDA290948EEC}"/>
              </a:ext>
            </a:extLst>
          </p:cNvPr>
          <p:cNvSpPr/>
          <p:nvPr/>
        </p:nvSpPr>
        <p:spPr>
          <a:xfrm>
            <a:off x="10374096" y="1947363"/>
            <a:ext cx="137158" cy="13715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 descr="\documentclass{article}&#10;\usepackage{amsmath}&#10;\usepackage{bm}&#10;\pagestyle{empty}&#10;\begin{document}&#10;&#10;$\bm{0}$&#10;&#10;&#10;\end{document}" title="IguanaTex Bitmap Display">
            <a:extLst>
              <a:ext uri="{FF2B5EF4-FFF2-40B4-BE49-F238E27FC236}">
                <a16:creationId xmlns:a16="http://schemas.microsoft.com/office/drawing/2014/main" id="{EE45477A-047F-9EF7-0AF4-3546CD72032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687" y="1978819"/>
            <a:ext cx="154286" cy="211429"/>
          </a:xfrm>
          <a:prstGeom prst="rect">
            <a:avLst/>
          </a:prstGeom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8C000558-A290-1AE6-A9AD-F9563AABFAF9}"/>
              </a:ext>
            </a:extLst>
          </p:cNvPr>
          <p:cNvSpPr/>
          <p:nvPr/>
        </p:nvSpPr>
        <p:spPr>
          <a:xfrm>
            <a:off x="7007183" y="1535674"/>
            <a:ext cx="1415680" cy="1023559"/>
          </a:xfrm>
          <a:prstGeom prst="ellipse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 descr="\documentclass{article}&#10;\usepackage{amsmath}&#10;\usepackage{amsfonts}&#10;\pagestyle{empty}&#10;\begin{document}&#10;&#10;$\operatorname{Ker} \mathcal{A}$&#10;&#10;&#10;\end{document}" title="IguanaTex Bitmap Display">
            <a:extLst>
              <a:ext uri="{FF2B5EF4-FFF2-40B4-BE49-F238E27FC236}">
                <a16:creationId xmlns:a16="http://schemas.microsoft.com/office/drawing/2014/main" id="{095681EE-C0E0-9198-5860-5E973AD0578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369" y="1924596"/>
            <a:ext cx="807619" cy="245714"/>
          </a:xfrm>
          <a:prstGeom prst="rect">
            <a:avLst/>
          </a:prstGeom>
        </p:spPr>
      </p:pic>
      <p:pic>
        <p:nvPicPr>
          <p:cNvPr id="36" name="图片 35" descr="\documentclass{article}&#10;\usepackage{amsmath}&#10;\usepackage{amsfonts}&#10;\pagestyle{empty}&#10;\begin{document}&#10;&#10;$\operatorname{Im} \mathcal{A}$&#10;&#10;&#10;\end{document}" title="IguanaTex Bitmap Display">
            <a:extLst>
              <a:ext uri="{FF2B5EF4-FFF2-40B4-BE49-F238E27FC236}">
                <a16:creationId xmlns:a16="http://schemas.microsoft.com/office/drawing/2014/main" id="{BC524EA4-1FF6-7A8C-B081-E2F204464BB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556" y="1211965"/>
            <a:ext cx="676191" cy="245714"/>
          </a:xfrm>
          <a:prstGeom prst="rect">
            <a:avLst/>
          </a:prstGeom>
        </p:spPr>
      </p:pic>
      <p:sp>
        <p:nvSpPr>
          <p:cNvPr id="34" name="弧形 33">
            <a:extLst>
              <a:ext uri="{FF2B5EF4-FFF2-40B4-BE49-F238E27FC236}">
                <a16:creationId xmlns:a16="http://schemas.microsoft.com/office/drawing/2014/main" id="{3CF1701C-9976-84AB-C355-8845E713D715}"/>
              </a:ext>
            </a:extLst>
          </p:cNvPr>
          <p:cNvSpPr/>
          <p:nvPr/>
        </p:nvSpPr>
        <p:spPr>
          <a:xfrm rot="19003009">
            <a:off x="8123440" y="1182891"/>
            <a:ext cx="2430298" cy="2430298"/>
          </a:xfrm>
          <a:prstGeom prst="arc">
            <a:avLst>
              <a:gd name="adj1" fmla="val 17408982"/>
              <a:gd name="adj2" fmla="val 0"/>
            </a:avLst>
          </a:prstGeom>
          <a:ln w="44450">
            <a:solidFill>
              <a:schemeClr val="tx1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E3D047BD-4FC4-B5E3-439C-1319BE4BBCE1}"/>
              </a:ext>
            </a:extLst>
          </p:cNvPr>
          <p:cNvSpPr/>
          <p:nvPr/>
        </p:nvSpPr>
        <p:spPr>
          <a:xfrm rot="17863828">
            <a:off x="8768018" y="1192796"/>
            <a:ext cx="2278105" cy="3609749"/>
          </a:xfrm>
          <a:prstGeom prst="arc">
            <a:avLst>
              <a:gd name="adj1" fmla="val 16592394"/>
              <a:gd name="adj2" fmla="val 0"/>
            </a:avLst>
          </a:prstGeom>
          <a:ln w="44450">
            <a:solidFill>
              <a:srgbClr val="00B0F0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BDF7985-5AF3-5DCC-3DF8-4F7E41C1A49B}"/>
              </a:ext>
            </a:extLst>
          </p:cNvPr>
          <p:cNvSpPr txBox="1"/>
          <p:nvPr/>
        </p:nvSpPr>
        <p:spPr>
          <a:xfrm>
            <a:off x="643153" y="4024145"/>
            <a:ext cx="5991726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单位矩阵：恒等映射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对角矩阵：伸缩变换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可逆矩阵：可逆线性映射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矩阵乘法：线性映射复合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61CB475-4D5D-7982-D821-F2A9B468A111}"/>
              </a:ext>
            </a:extLst>
          </p:cNvPr>
          <p:cNvSpPr txBox="1"/>
          <p:nvPr/>
        </p:nvSpPr>
        <p:spPr>
          <a:xfrm>
            <a:off x="5648877" y="4024145"/>
            <a:ext cx="5816147" cy="168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矩阵的秩：像空间的维数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解空间的维数：核空间的维数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维数公式：像空间维数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核空间维数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endParaRPr lang="zh-CN" altLang="en-US" sz="2400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5042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7357"/>
  <p:tag name="ORIGINALWIDTH" val="658.4177"/>
  <p:tag name="LATEXADDIN" val="\documentclass{article}&#10;\usepackage{amsmath}&#10;\usepackage{bm}&#10;\pagestyle{empty}&#10;\begin{document}&#10;&#10;$\bm{y} ~= ~~~~~A \bm{x}$&#10;&#10;&#10;\end{document}"/>
  <p:tag name="IGUANATEXSIZE" val="45"/>
  <p:tag name="IGUANATEXCURSOR" val="11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152.2309"/>
  <p:tag name="LATEXADDIN" val="\documentclass{article}&#10;\usepackage{amsmath}&#10;\usepackage{amsfonts}&#10;\pagestyle{empty}&#10;\begin{document}&#10;&#10;$\mathbb{K}^n$&#10;&#10;&#10;\end{document}"/>
  <p:tag name="IGUANATEXSIZE" val="30"/>
  <p:tag name="IGUANATEXCURSOR" val="6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179.2276"/>
  <p:tag name="LATEXADDIN" val="\documentclass{article}&#10;\usepackage{amsmath}&#10;\usepackage{amsfonts}&#10;\pagestyle{empty}&#10;\begin{document}&#10;&#10;$\mathbb{K}^m$&#10;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23961"/>
  <p:tag name="ORIGINALWIDTH" val="60.74244"/>
  <p:tag name="LATEXADDIN" val="\documentclass{article}&#10;\usepackage{amsmath}&#10;\usepackage{bm}&#10;\pagestyle{empty}&#10;\begin{document}&#10;&#10;$\bm{0}$&#10;&#10;&#10;\end{document}"/>
  <p:tag name="IGUANATEXSIZE" val="25"/>
  <p:tag name="IGUANATEXCURSOR" val="10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317.9602"/>
  <p:tag name="LATEXADDIN" val="\documentclass{article}&#10;\usepackage{amsmath}&#10;\usepackage{amsfonts}&#10;\pagestyle{empty}&#10;\begin{document}&#10;&#10;$\operatorname{Ker} \mathcal{A}$&#10;&#10;&#10;\end{document}"/>
  <p:tag name="IGUANATEXSIZE" val="25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266.2167"/>
  <p:tag name="LATEXADDIN" val="\documentclass{article}&#10;\usepackage{amsmath}&#10;\usepackage{amsfonts}&#10;\pagestyle{empty}&#10;\begin{document}&#10;&#10;$\operatorname{Im} \mathcal{A}$&#10;&#10;&#10;\end{document}"/>
  <p:tag name="IGUANATEXSIZE" val="25"/>
  <p:tag name="IGUANATEXCURSOR" val="13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</TotalTime>
  <Words>82</Words>
  <Application>Microsoft Office PowerPoint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lrj</dc:creator>
  <cp:lastModifiedBy>lrj</cp:lastModifiedBy>
  <cp:revision>14</cp:revision>
  <dcterms:created xsi:type="dcterms:W3CDTF">2025-10-26T00:13:23Z</dcterms:created>
  <dcterms:modified xsi:type="dcterms:W3CDTF">2026-05-30T08:47:31Z</dcterms:modified>
</cp:coreProperties>
</file>