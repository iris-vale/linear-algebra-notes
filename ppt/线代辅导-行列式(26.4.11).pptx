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6" r:id="rId2"/>
    <p:sldId id="288" r:id="rId3"/>
    <p:sldId id="290" r:id="rId4"/>
    <p:sldId id="289" r:id="rId5"/>
    <p:sldId id="291" r:id="rId6"/>
    <p:sldId id="292" r:id="rId7"/>
    <p:sldId id="293" r:id="rId8"/>
    <p:sldId id="285" r:id="rId9"/>
    <p:sldId id="295" r:id="rId10"/>
    <p:sldId id="275" r:id="rId11"/>
    <p:sldId id="296" r:id="rId12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543"/>
    <a:srgbClr val="4C21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92" autoAdjust="0"/>
  </p:normalViewPr>
  <p:slideViewPr>
    <p:cSldViewPr snapToGrid="0">
      <p:cViewPr varScale="1">
        <p:scale>
          <a:sx n="45" d="100"/>
          <a:sy n="45" d="100"/>
        </p:scale>
        <p:origin x="34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47E69-19FA-4CB8-8297-57ABAF383038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7A0A9-BF48-49B9-A29D-3174C8DA09D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232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B326A-83FA-B83D-9EE2-494AA34D8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459E1E-D8F1-9309-2782-0361E03BE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67128-810B-1F54-01D2-B497A611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E39364-ACC9-CA04-202F-F8519BB85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D57ADD-F9FA-6F3B-6C6F-DB3119E1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46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DAA0C-57F6-ED73-2AEA-40B68A736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72A5F-7D25-7CC4-F5CE-C32F82BA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5231C-6DDE-D341-11C9-C5820FD5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81D57-30CD-F492-D122-6783FD14C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9F328E-40CE-4BD2-FBC9-86DD51BB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5527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6FB81-F72B-2001-EA17-E2480A2FD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BF193-0B02-4C8C-B16D-604A6C7EA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1ABD6-B441-C141-3C80-71AA4472F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063BAF-877D-C365-A6EA-EFC58943A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89BE8-75DA-F421-2B5A-A43CB983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329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398A35-F457-1EB4-C0AA-32E739404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EAC9AA-B13B-A1D3-DA01-61F8265829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3D6DE8-3275-4ED5-FBC1-B713235A5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7A7405F-BBEC-CAB3-AB3C-FDA262F1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0F0BA3-BD50-CF61-21BE-364FB6C9A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D3DDD2-A123-E338-3BFB-C0B03E08D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1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7ACD0C-5074-56BD-AB91-248CF7347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4055D-D949-5220-1600-CFEA21813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B1183C-524D-E096-34C8-6FB2AE4FC7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4E466-C2C1-1E02-D3F6-3FBB7C9D57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1578E-8D2E-7B26-457F-4808CFAE2C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58870C8-AADE-D57D-F8E0-62E8013B8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50D9B9-E6DA-3F30-A300-0FE73B87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DCFB07-4AE1-6BEB-251E-2C9FF2A78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49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330C-8CDA-AC69-A7F6-09493405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038417-B5BC-9B1C-20CC-DC7881AB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ACB849-8DFD-C7CB-3D95-1AC0F35A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7BDC2F-4255-BE11-295E-0F81568AB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96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7F24A4-1774-FD43-3EDC-ABBAE45C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150C1C-CF2D-ACB8-14FC-A4A1744B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5F1E06-3213-B5C6-B242-2513505C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63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4F7F4-FBA2-D5B0-20CA-09DF0D5F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882659-EB13-76DC-D70B-28C31D8B9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85194-D317-86B1-CE85-BC323A9F6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111627-6E1D-DE45-6466-8CD4B6DC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84F075-A4A0-B2A5-EE6E-3B69B910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A3844-B2B6-C942-EE05-FB7CAC111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3C3408-1F55-8854-E8AA-10F33A6E1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1C509-1011-CBD0-5EDB-E69C5933E2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73D895-1427-C272-4E64-2654581F3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0DD75F-39B1-4885-3779-6E9FBEA08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BE290D-98F2-02D7-5371-BA142098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B4DBF-EF60-E726-C81D-C4EC5DC9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210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32C752-1B51-D109-3034-8961DA08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569E59-F8AF-AA55-F41D-E42DE7773E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4AF6FF-3543-256D-8612-4C2F424D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33E6F-E27C-CD76-DB4B-31A85D2DA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8F9A0-1CD2-CFC5-32DE-8308CD67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76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34BD213-287C-B19E-AFDB-0D09344778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E916C44-6E81-0627-5B8C-9838F29CE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FCA91-6CD3-C67A-FE4F-2252B4FB7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BA20E6-DA0C-77C2-821D-455101569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E8AAA7-7271-D286-22E8-81C33B5AD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9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559BBE-A2CC-42BF-FE53-539F156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AA0754-0FD5-CA3C-5285-0688EB240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AA4768-FAF9-7878-F4DC-77ECC89DF6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90C73-9E8C-4CB1-BF34-D5E84A616C6A}" type="datetimeFigureOut">
              <a:rPr lang="zh-CN" altLang="en-US" smtClean="0"/>
              <a:t>2026/4/11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2552E4-E095-C326-9EB7-48D25E97DF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95BC13-8DCE-3FF9-8F41-F2DC1E5ED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D30DE-7A96-44A7-BDBD-70657D7CF3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317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1.xml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2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4CAA-F447-DB5B-D206-C1766EC03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5">
            <a:extLst>
              <a:ext uri="{FF2B5EF4-FFF2-40B4-BE49-F238E27FC236}">
                <a16:creationId xmlns:a16="http://schemas.microsoft.com/office/drawing/2014/main" id="{E30A66F9-1FB7-CFB1-C628-668FB893BA77}"/>
              </a:ext>
            </a:extLst>
          </p:cNvPr>
          <p:cNvSpPr txBox="1"/>
          <p:nvPr/>
        </p:nvSpPr>
        <p:spPr>
          <a:xfrm>
            <a:off x="301310" y="955095"/>
            <a:ext cx="5227052" cy="735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春线性代数学业辅导</a:t>
            </a:r>
            <a:endParaRPr lang="en-US" altLang="zh-CN" sz="3200" dirty="0">
              <a:latin typeface="Arial" panose="020B0604020202020204" pitchFamily="34" charset="0"/>
              <a:ea typeface="黑体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3" name="文本框 5">
            <a:extLst>
              <a:ext uri="{FF2B5EF4-FFF2-40B4-BE49-F238E27FC236}">
                <a16:creationId xmlns:a16="http://schemas.microsoft.com/office/drawing/2014/main" id="{8D39E0C9-1AE4-9FF5-BC13-9C33982A4F44}"/>
              </a:ext>
            </a:extLst>
          </p:cNvPr>
          <p:cNvSpPr txBox="1"/>
          <p:nvPr/>
        </p:nvSpPr>
        <p:spPr>
          <a:xfrm>
            <a:off x="1908732" y="1690489"/>
            <a:ext cx="2012208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altLang="zh-CN" sz="2000" dirty="0"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2026.4.11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0D3747F-A28D-5132-74CA-6D7BEA725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809" y="3117087"/>
            <a:ext cx="2638054" cy="307944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90C6450-BCCD-403F-EA5B-1E8E8C12FEA6}"/>
              </a:ext>
            </a:extLst>
          </p:cNvPr>
          <p:cNvSpPr/>
          <p:nvPr/>
        </p:nvSpPr>
        <p:spPr>
          <a:xfrm>
            <a:off x="387724" y="799995"/>
            <a:ext cx="5054224" cy="1581698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874B31C-50D0-4124-7976-105F636A0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923" y="361152"/>
            <a:ext cx="4187268" cy="2355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B950A6-FF6E-463E-3B98-E31A081403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544" y="2500461"/>
            <a:ext cx="4396026" cy="3996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71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0F644-FE68-0B0F-B57F-A5EBF0AA1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2F803B9F-D36A-EA35-7D52-D754C5716B5B}"/>
              </a:ext>
            </a:extLst>
          </p:cNvPr>
          <p:cNvCxnSpPr>
            <a:cxnSpLocks/>
          </p:cNvCxnSpPr>
          <p:nvPr/>
        </p:nvCxnSpPr>
        <p:spPr>
          <a:xfrm flipV="1">
            <a:off x="7156559" y="3680114"/>
            <a:ext cx="412748" cy="412748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93434F9-2111-131B-826A-AE08D7B0372B}"/>
              </a:ext>
            </a:extLst>
          </p:cNvPr>
          <p:cNvSpPr/>
          <p:nvPr/>
        </p:nvSpPr>
        <p:spPr>
          <a:xfrm rot="9651172">
            <a:off x="3724250" y="2468335"/>
            <a:ext cx="1530880" cy="1000422"/>
          </a:xfrm>
          <a:prstGeom prst="parallelogram">
            <a:avLst>
              <a:gd name="adj" fmla="val 12082"/>
            </a:avLst>
          </a:prstGeom>
          <a:solidFill>
            <a:srgbClr val="0070C0">
              <a:alpha val="25000"/>
            </a:srgbClr>
          </a:solidFill>
          <a:ln w="44450">
            <a:solidFill>
              <a:srgbClr val="0070C0">
                <a:alpha val="25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C6C60BBF-B893-AD1A-3889-F174C92D8478}"/>
              </a:ext>
            </a:extLst>
          </p:cNvPr>
          <p:cNvCxnSpPr>
            <a:cxnSpLocks/>
          </p:cNvCxnSpPr>
          <p:nvPr/>
        </p:nvCxnSpPr>
        <p:spPr>
          <a:xfrm>
            <a:off x="3387131" y="3685764"/>
            <a:ext cx="268860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CA6D455C-A7CD-A986-2BCF-93845DB3839E}"/>
              </a:ext>
            </a:extLst>
          </p:cNvPr>
          <p:cNvCxnSpPr>
            <a:cxnSpLocks/>
          </p:cNvCxnSpPr>
          <p:nvPr/>
        </p:nvCxnSpPr>
        <p:spPr>
          <a:xfrm flipV="1">
            <a:off x="3916590" y="1470406"/>
            <a:ext cx="0" cy="2816825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90C74394-52D8-9B78-2385-114FD82897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818" y="3789172"/>
            <a:ext cx="193188" cy="203267"/>
          </a:xfrm>
          <a:prstGeom prst="rect">
            <a:avLst/>
          </a:prstGeom>
        </p:spPr>
      </p:pic>
      <p:pic>
        <p:nvPicPr>
          <p:cNvPr id="7" name="图片 6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D30FB7E4-E8FA-B81C-50B1-2616771F439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775" y="3827789"/>
            <a:ext cx="245264" cy="164632"/>
          </a:xfrm>
          <a:prstGeom prst="rect">
            <a:avLst/>
          </a:prstGeom>
        </p:spPr>
      </p:pic>
      <p:pic>
        <p:nvPicPr>
          <p:cNvPr id="8" name="图片 7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74BD33DA-AE08-CC16-BAC4-4487EDD67D3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431" y="1346159"/>
            <a:ext cx="251987" cy="164632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3326D33-57F6-A26B-A1E3-7A1C850CF2BA}"/>
              </a:ext>
            </a:extLst>
          </p:cNvPr>
          <p:cNvCxnSpPr>
            <a:cxnSpLocks/>
          </p:cNvCxnSpPr>
          <p:nvPr/>
        </p:nvCxnSpPr>
        <p:spPr>
          <a:xfrm flipV="1">
            <a:off x="3902511" y="3225262"/>
            <a:ext cx="1402187" cy="454051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759E66-2119-C275-47F3-AE4E095FDDF6}"/>
              </a:ext>
            </a:extLst>
          </p:cNvPr>
          <p:cNvCxnSpPr>
            <a:cxnSpLocks/>
          </p:cNvCxnSpPr>
          <p:nvPr/>
        </p:nvCxnSpPr>
        <p:spPr>
          <a:xfrm flipH="1" flipV="1">
            <a:off x="3688830" y="2682257"/>
            <a:ext cx="235365" cy="1003507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03BD4CDA-C646-C5F5-D2FA-E38D1A842554}"/>
              </a:ext>
            </a:extLst>
          </p:cNvPr>
          <p:cNvCxnSpPr>
            <a:cxnSpLocks/>
          </p:cNvCxnSpPr>
          <p:nvPr/>
        </p:nvCxnSpPr>
        <p:spPr>
          <a:xfrm>
            <a:off x="817985" y="3687160"/>
            <a:ext cx="2193329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F393014C-3670-14D2-7712-FDB5B0286F1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797" y="3829185"/>
            <a:ext cx="245264" cy="164632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45274C3-D567-F93A-0229-0B4D84791D22}"/>
              </a:ext>
            </a:extLst>
          </p:cNvPr>
          <p:cNvCxnSpPr>
            <a:cxnSpLocks/>
          </p:cNvCxnSpPr>
          <p:nvPr/>
        </p:nvCxnSpPr>
        <p:spPr>
          <a:xfrm>
            <a:off x="1336415" y="3687160"/>
            <a:ext cx="1196115" cy="0"/>
          </a:xfrm>
          <a:prstGeom prst="straightConnector1">
            <a:avLst/>
          </a:prstGeom>
          <a:ln w="444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椭圆 15">
            <a:extLst>
              <a:ext uri="{FF2B5EF4-FFF2-40B4-BE49-F238E27FC236}">
                <a16:creationId xmlns:a16="http://schemas.microsoft.com/office/drawing/2014/main" id="{1E362DBB-7B28-9D12-742C-69710741F30E}"/>
              </a:ext>
            </a:extLst>
          </p:cNvPr>
          <p:cNvSpPr/>
          <p:nvPr/>
        </p:nvSpPr>
        <p:spPr>
          <a:xfrm>
            <a:off x="1267836" y="3618581"/>
            <a:ext cx="137158" cy="13715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03F0918-A0B4-3FE8-7978-6E062A3D94E2}"/>
              </a:ext>
            </a:extLst>
          </p:cNvPr>
          <p:cNvCxnSpPr>
            <a:cxnSpLocks/>
          </p:cNvCxnSpPr>
          <p:nvPr/>
        </p:nvCxnSpPr>
        <p:spPr>
          <a:xfrm>
            <a:off x="6480925" y="3681893"/>
            <a:ext cx="3244484" cy="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E9CFC5B-69DE-B217-B967-35B65CBCD309}"/>
              </a:ext>
            </a:extLst>
          </p:cNvPr>
          <p:cNvCxnSpPr>
            <a:cxnSpLocks/>
          </p:cNvCxnSpPr>
          <p:nvPr/>
        </p:nvCxnSpPr>
        <p:spPr>
          <a:xfrm flipV="1">
            <a:off x="7566259" y="1466535"/>
            <a:ext cx="0" cy="815118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 descr="\documentclass{article}&#10;\usepackage{amsmath}&#10;\pagestyle{empty}&#10;\begin{document}&#10;&#10;$O$&#10;&#10;&#10;\end{document}" title="IguanaTex Bitmap Display">
            <a:extLst>
              <a:ext uri="{FF2B5EF4-FFF2-40B4-BE49-F238E27FC236}">
                <a16:creationId xmlns:a16="http://schemas.microsoft.com/office/drawing/2014/main" id="{85ACA68F-EF29-1264-34B6-3541EB2D0CF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3566" y="3815757"/>
            <a:ext cx="193188" cy="203267"/>
          </a:xfrm>
          <a:prstGeom prst="rect">
            <a:avLst/>
          </a:prstGeom>
        </p:spPr>
      </p:pic>
      <p:pic>
        <p:nvPicPr>
          <p:cNvPr id="20" name="图片 19" descr="\documentclass{article}&#10;\usepackage{amsmath}&#10;\pagestyle{empty}&#10;\begin{document}&#10;&#10;$x_1$&#10;&#10;&#10;\end{document}" title="IguanaTex Bitmap Display">
            <a:extLst>
              <a:ext uri="{FF2B5EF4-FFF2-40B4-BE49-F238E27FC236}">
                <a16:creationId xmlns:a16="http://schemas.microsoft.com/office/drawing/2014/main" id="{35E8DEC2-8B14-3301-6C35-296FB8E68BE7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3444" y="3823918"/>
            <a:ext cx="245264" cy="164632"/>
          </a:xfrm>
          <a:prstGeom prst="rect">
            <a:avLst/>
          </a:prstGeom>
        </p:spPr>
      </p:pic>
      <p:pic>
        <p:nvPicPr>
          <p:cNvPr id="21" name="图片 20" descr="\documentclass{article}&#10;\usepackage{amsmath}&#10;\pagestyle{empty}&#10;\begin{document}&#10;&#10;$x_3$&#10;&#10;&#10;\end{document}" title="IguanaTex Bitmap Display">
            <a:extLst>
              <a:ext uri="{FF2B5EF4-FFF2-40B4-BE49-F238E27FC236}">
                <a16:creationId xmlns:a16="http://schemas.microsoft.com/office/drawing/2014/main" id="{7B2B5448-1D3D-6944-31A0-D2349559AB52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100" y="1342288"/>
            <a:ext cx="253667" cy="167992"/>
          </a:xfrm>
          <a:prstGeom prst="rect">
            <a:avLst/>
          </a:prstGeom>
        </p:spPr>
      </p:pic>
      <p:pic>
        <p:nvPicPr>
          <p:cNvPr id="22" name="图片 21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5BEA6B87-86D0-2A61-9932-F41B20EBD539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849" y="3847982"/>
            <a:ext cx="273822" cy="248623"/>
          </a:xfrm>
          <a:prstGeom prst="rect">
            <a:avLst/>
          </a:prstGeom>
        </p:spPr>
      </p:pic>
      <p:pic>
        <p:nvPicPr>
          <p:cNvPr id="23" name="图片 22" descr="\documentclass{article}&#10;\usepackage{amsmath}&#10;\pagestyle{empty}&#10;\begin{document}&#10;&#10;$x_2$&#10;&#10;&#10;\end{document}" title="IguanaTex Bitmap Display">
            <a:extLst>
              <a:ext uri="{FF2B5EF4-FFF2-40B4-BE49-F238E27FC236}">
                <a16:creationId xmlns:a16="http://schemas.microsoft.com/office/drawing/2014/main" id="{ABA241D8-4DFB-7377-24E9-18BF27FD841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250" y="2199337"/>
            <a:ext cx="251987" cy="164632"/>
          </a:xfrm>
          <a:prstGeom prst="rect">
            <a:avLst/>
          </a:prstGeom>
        </p:spPr>
      </p:pic>
      <p:grpSp>
        <p:nvGrpSpPr>
          <p:cNvPr id="24" name="组合 23">
            <a:extLst>
              <a:ext uri="{FF2B5EF4-FFF2-40B4-BE49-F238E27FC236}">
                <a16:creationId xmlns:a16="http://schemas.microsoft.com/office/drawing/2014/main" id="{0058E40D-35FC-A2EB-F0B9-EDA8A041DC05}"/>
              </a:ext>
            </a:extLst>
          </p:cNvPr>
          <p:cNvGrpSpPr/>
          <p:nvPr/>
        </p:nvGrpSpPr>
        <p:grpSpPr>
          <a:xfrm>
            <a:off x="6559278" y="2032487"/>
            <a:ext cx="2457279" cy="1696588"/>
            <a:chOff x="7023477" y="1394993"/>
            <a:chExt cx="2457279" cy="1696588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03D435FC-6C89-75A7-0CAE-ED7018CBD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 rot="937983" flipH="1">
              <a:off x="7023477" y="1394993"/>
              <a:ext cx="2457279" cy="1696588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5ACA3587-C633-E597-6F05-45DC40ED0E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1719" y="2856217"/>
              <a:ext cx="1300401" cy="199639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167A2081-4617-0D72-0A38-31BA8A77D1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07211" y="2747010"/>
              <a:ext cx="549949" cy="318436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5FC8793D-33C5-5A71-C193-62CF911377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07332" y="1918156"/>
              <a:ext cx="334388" cy="1139528"/>
            </a:xfrm>
            <a:prstGeom prst="straightConnector1">
              <a:avLst/>
            </a:prstGeom>
            <a:ln w="44450"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9E01FB8-7C6B-C10F-C5C8-894999B0C9AB}"/>
              </a:ext>
            </a:extLst>
          </p:cNvPr>
          <p:cNvCxnSpPr>
            <a:cxnSpLocks/>
          </p:cNvCxnSpPr>
          <p:nvPr/>
        </p:nvCxnSpPr>
        <p:spPr>
          <a:xfrm flipV="1">
            <a:off x="7076147" y="2460302"/>
            <a:ext cx="1719245" cy="1719242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9A1E2AF-5476-DA76-B51F-BA3AD5AD9825}"/>
              </a:ext>
            </a:extLst>
          </p:cNvPr>
          <p:cNvCxnSpPr>
            <a:cxnSpLocks/>
          </p:cNvCxnSpPr>
          <p:nvPr/>
        </p:nvCxnSpPr>
        <p:spPr>
          <a:xfrm flipV="1">
            <a:off x="8616821" y="2154241"/>
            <a:ext cx="478361" cy="478362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18382C81-15ED-C988-1198-524AFA0E15CA}"/>
              </a:ext>
            </a:extLst>
          </p:cNvPr>
          <p:cNvCxnSpPr>
            <a:cxnSpLocks/>
          </p:cNvCxnSpPr>
          <p:nvPr/>
        </p:nvCxnSpPr>
        <p:spPr>
          <a:xfrm flipV="1">
            <a:off x="7566259" y="3663096"/>
            <a:ext cx="0" cy="806120"/>
          </a:xfrm>
          <a:prstGeom prst="straightConnector1">
            <a:avLst/>
          </a:prstGeom>
          <a:ln w="444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45E2F815-1E77-DD7E-1004-70D5216E863F}"/>
              </a:ext>
            </a:extLst>
          </p:cNvPr>
          <p:cNvCxnSpPr>
            <a:cxnSpLocks/>
          </p:cNvCxnSpPr>
          <p:nvPr/>
        </p:nvCxnSpPr>
        <p:spPr>
          <a:xfrm flipV="1">
            <a:off x="7567354" y="1603886"/>
            <a:ext cx="0" cy="2239429"/>
          </a:xfrm>
          <a:prstGeom prst="straightConnector1">
            <a:avLst/>
          </a:prstGeom>
          <a:ln w="44450">
            <a:solidFill>
              <a:schemeClr val="tx1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2D0850E-7E0A-57B8-B49A-F03273DCDC6D}"/>
              </a:ext>
            </a:extLst>
          </p:cNvPr>
          <p:cNvSpPr txBox="1"/>
          <p:nvPr/>
        </p:nvSpPr>
        <p:spPr>
          <a:xfrm>
            <a:off x="9985517" y="2109194"/>
            <a:ext cx="2072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dirty="0"/>
              <a:t>……</a:t>
            </a:r>
            <a:endParaRPr lang="zh-CN" altLang="en-US" sz="8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3062EAE-F659-0BBE-63C6-0EC714DC5D32}"/>
              </a:ext>
            </a:extLst>
          </p:cNvPr>
          <p:cNvSpPr txBox="1"/>
          <p:nvPr/>
        </p:nvSpPr>
        <p:spPr>
          <a:xfrm>
            <a:off x="490520" y="474952"/>
            <a:ext cx="6960527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行列式的理解（一）：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向量组确定的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维有向体积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6" name="图片 35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33522F33-504F-5B04-94E2-BEDE7EAABD64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8296" y="3184010"/>
            <a:ext cx="273822" cy="248623"/>
          </a:xfrm>
          <a:prstGeom prst="rect">
            <a:avLst/>
          </a:prstGeom>
        </p:spPr>
      </p:pic>
      <p:pic>
        <p:nvPicPr>
          <p:cNvPr id="39" name="图片 38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A5006BB4-D0B1-3907-9C50-5E46DBAAA439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080" y="2508292"/>
            <a:ext cx="280542" cy="248623"/>
          </a:xfrm>
          <a:prstGeom prst="rect">
            <a:avLst/>
          </a:prstGeom>
        </p:spPr>
      </p:pic>
      <p:pic>
        <p:nvPicPr>
          <p:cNvPr id="40" name="图片 39" descr="\documentclass{article}&#10;\usepackage{amsmath}&#10;\usepackage{bm}&#10;\pagestyle{empty}&#10;\begin{document}&#10;&#10;\begin{align}&#10;\bm{\beta}_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CE7A6E5-A8CD-1C27-C1AB-E29EA4784A76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6297" y="3335004"/>
            <a:ext cx="273822" cy="248623"/>
          </a:xfrm>
          <a:prstGeom prst="rect">
            <a:avLst/>
          </a:prstGeom>
        </p:spPr>
      </p:pic>
      <p:pic>
        <p:nvPicPr>
          <p:cNvPr id="41" name="图片 40" descr="\documentclass{article}&#10;\usepackage{amsmath}&#10;\usepackage{bm}&#10;\pagestyle{empty}&#10;\begin{document}&#10;&#10;\begin{align}&#10;\bm{\beta}_2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0E98E8D2-A396-BDBA-43D5-72D70D8E27E6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6923" y="3249266"/>
            <a:ext cx="280542" cy="248623"/>
          </a:xfrm>
          <a:prstGeom prst="rect">
            <a:avLst/>
          </a:prstGeom>
        </p:spPr>
      </p:pic>
      <p:pic>
        <p:nvPicPr>
          <p:cNvPr id="44" name="图片 43" descr="\documentclass{article}&#10;\usepackage{amsmath}&#10;\usepackage{bm}&#10;\pagestyle{empty}&#10;\begin{document}&#10;&#10;\begin{align}&#10;\bm{\beta}_3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CE04AD4E-4416-BB0A-652F-8525475B7433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375" y="2487025"/>
            <a:ext cx="282222" cy="248623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549781F8-C933-C9E5-2BF5-AD75DE34352E}"/>
              </a:ext>
            </a:extLst>
          </p:cNvPr>
          <p:cNvSpPr txBox="1"/>
          <p:nvPr/>
        </p:nvSpPr>
        <p:spPr>
          <a:xfrm>
            <a:off x="6957700" y="4492171"/>
            <a:ext cx="2272419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平行六面体（体积）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BCB7A9BD-13A0-2E3D-0CC7-2B8F0CB4D8A1}"/>
              </a:ext>
            </a:extLst>
          </p:cNvPr>
          <p:cNvSpPr txBox="1"/>
          <p:nvPr/>
        </p:nvSpPr>
        <p:spPr>
          <a:xfrm>
            <a:off x="3577457" y="4475769"/>
            <a:ext cx="2307955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平行四边形（面积）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F84DCEFC-5AD8-CEAA-FB08-3B198A746FF5}"/>
              </a:ext>
            </a:extLst>
          </p:cNvPr>
          <p:cNvSpPr txBox="1"/>
          <p:nvPr/>
        </p:nvSpPr>
        <p:spPr>
          <a:xfrm>
            <a:off x="915350" y="4492171"/>
            <a:ext cx="1998597" cy="481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线段（长度）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1" name="图片 50" descr="\documentclass{article}&#10;\usepackage{amsmath}&#10;\usepackage{bm}&#10;\pagestyle{empty}&#10;\begin{document}&#10;&#10;\begin{align}&#10;\det (\bm{\beta}_1)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689E764-BCC7-26BC-5C60-361BC9BDD4E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196" y="5191847"/>
            <a:ext cx="876903" cy="280541"/>
          </a:xfrm>
          <a:prstGeom prst="rect">
            <a:avLst/>
          </a:prstGeom>
        </p:spPr>
      </p:pic>
      <p:pic>
        <p:nvPicPr>
          <p:cNvPr id="54" name="图片 53" descr="\documentclass{article}&#10;\usepackage{amsmath}&#10;\usepackage{bm}&#10;\pagestyle{empty}&#10;\begin{document}&#10;&#10;\begin{align}&#10;\det (\bm{\beta}_1, \bm{\beta}_2)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8B4FC46D-4C62-E2C0-3B67-78F213C9A29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383" y="5191602"/>
            <a:ext cx="1310315" cy="280541"/>
          </a:xfrm>
          <a:prstGeom prst="rect">
            <a:avLst/>
          </a:prstGeom>
        </p:spPr>
      </p:pic>
      <p:pic>
        <p:nvPicPr>
          <p:cNvPr id="57" name="图片 56" descr="\documentclass{article}&#10;\usepackage{amsmath}&#10;\usepackage{bm}&#10;\pagestyle{empty}&#10;\begin{document}&#10;&#10;\begin{align}&#10;\det (\bm{\beta}_1, \bm{\beta}_2, \bm{\beta}_3)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18EC791C-D482-01F2-02E6-9130A6DD7BF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3597" y="5189061"/>
            <a:ext cx="1743727" cy="280541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6F8D7D6D-990A-580A-0330-C7DB32375EF9}"/>
              </a:ext>
            </a:extLst>
          </p:cNvPr>
          <p:cNvSpPr txBox="1"/>
          <p:nvPr/>
        </p:nvSpPr>
        <p:spPr>
          <a:xfrm>
            <a:off x="454976" y="6086425"/>
            <a:ext cx="9148467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：向量默认以列向量形式出现，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维向量并列放置可理解为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阶方阵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091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FC667-A68D-3C2A-16EF-890FBAB1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>
            <a:extLst>
              <a:ext uri="{FF2B5EF4-FFF2-40B4-BE49-F238E27FC236}">
                <a16:creationId xmlns:a16="http://schemas.microsoft.com/office/drawing/2014/main" id="{8AC26385-9E68-BD7D-D922-638214CBB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29" y="847364"/>
            <a:ext cx="11288700" cy="516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93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0F06-71F7-ADE0-2DC0-3B4F647B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19E08E-D116-0F68-B34B-08467F92C1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12" r="39092" b="48598"/>
          <a:stretch>
            <a:fillRect/>
          </a:stretch>
        </p:blipFill>
        <p:spPr>
          <a:xfrm>
            <a:off x="1798556" y="2047969"/>
            <a:ext cx="4249726" cy="410374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485CEC8-F7C2-C00A-866A-18DED16DC4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2221"/>
          <a:stretch>
            <a:fillRect/>
          </a:stretch>
        </p:blipFill>
        <p:spPr>
          <a:xfrm>
            <a:off x="329075" y="706287"/>
            <a:ext cx="11317279" cy="10479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D9079EA-A890-A71F-0D13-55763DC5A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" t="48530" r="68663" b="68"/>
          <a:stretch>
            <a:fillRect/>
          </a:stretch>
        </p:blipFill>
        <p:spPr>
          <a:xfrm>
            <a:off x="6306064" y="1975780"/>
            <a:ext cx="4249726" cy="4103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71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25345-B357-C994-19B2-86C08488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551A29-B92E-43F2-23AC-5A23F871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12" r="39092" b="48598"/>
          <a:stretch>
            <a:fillRect/>
          </a:stretch>
        </p:blipFill>
        <p:spPr>
          <a:xfrm>
            <a:off x="2151759" y="2183897"/>
            <a:ext cx="4006594" cy="38689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623C5C7-4D28-B807-A5D8-3B4527918E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1" t="28067" r="-461" b="44154"/>
          <a:stretch>
            <a:fillRect/>
          </a:stretch>
        </p:blipFill>
        <p:spPr>
          <a:xfrm>
            <a:off x="329075" y="714901"/>
            <a:ext cx="11317279" cy="10479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51FE9CB-99E6-CAE6-4F03-C550DA73A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21" t="49601" r="40683" b="-1003"/>
          <a:stretch>
            <a:fillRect/>
          </a:stretch>
        </p:blipFill>
        <p:spPr>
          <a:xfrm>
            <a:off x="6096000" y="2222921"/>
            <a:ext cx="4006594" cy="386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05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27283-A853-3CE0-077F-EBB2377AD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E498AA-4285-0256-781F-D11D90D94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612" r="39092" b="48598"/>
          <a:stretch>
            <a:fillRect/>
          </a:stretch>
        </p:blipFill>
        <p:spPr>
          <a:xfrm>
            <a:off x="587654" y="2716216"/>
            <a:ext cx="3279893" cy="316722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9FCFF5-28B3-8413-DC64-72EA4A3007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" t="56134" r="-36" b="16087"/>
          <a:stretch>
            <a:fillRect/>
          </a:stretch>
        </p:blipFill>
        <p:spPr>
          <a:xfrm>
            <a:off x="329075" y="714901"/>
            <a:ext cx="11317279" cy="10479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039C7E7-4C2E-BF20-2517-E384E47227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1740" t="49770" r="7964" b="-1172"/>
          <a:stretch>
            <a:fillRect/>
          </a:stretch>
        </p:blipFill>
        <p:spPr>
          <a:xfrm>
            <a:off x="7834600" y="2716216"/>
            <a:ext cx="3279893" cy="3167226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9D94E7AE-CFAF-D8D5-A3E7-0AA5E0A5AC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997" t="-2083" r="10707" b="50681"/>
          <a:stretch>
            <a:fillRect/>
          </a:stretch>
        </p:blipFill>
        <p:spPr>
          <a:xfrm>
            <a:off x="3731755" y="2583869"/>
            <a:ext cx="3279893" cy="3167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2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FA8A6-F67C-5B28-08ED-D2CD9B26C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D8DB33-DB9F-58C2-F07A-7FA98FA06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80" t="-586" r="70584" b="49184"/>
          <a:stretch>
            <a:fillRect/>
          </a:stretch>
        </p:blipFill>
        <p:spPr>
          <a:xfrm>
            <a:off x="4022916" y="1946194"/>
            <a:ext cx="3954021" cy="381819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6AC6BDC-C522-DD13-1F08-3B607515A5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0" t="83170" r="70" b="3270"/>
          <a:stretch>
            <a:fillRect/>
          </a:stretch>
        </p:blipFill>
        <p:spPr>
          <a:xfrm>
            <a:off x="341286" y="1093609"/>
            <a:ext cx="11317279" cy="51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061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01AB6-B411-F707-2A80-787B2F928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图片 204">
            <a:extLst>
              <a:ext uri="{FF2B5EF4-FFF2-40B4-BE49-F238E27FC236}">
                <a16:creationId xmlns:a16="http://schemas.microsoft.com/office/drawing/2014/main" id="{5742D614-DD67-7A93-2697-0EB73747D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697" y="1064926"/>
            <a:ext cx="7339440" cy="5474534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515528C-3061-7FE3-2A7B-FFED31417B8C}"/>
              </a:ext>
            </a:extLst>
          </p:cNvPr>
          <p:cNvSpPr txBox="1"/>
          <p:nvPr/>
        </p:nvSpPr>
        <p:spPr>
          <a:xfrm>
            <a:off x="490520" y="318540"/>
            <a:ext cx="7775175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行列式的理解（二）：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线性变换下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维有向体积的伸缩比例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C5B52D-4C84-02DF-9C9F-FA6A967F39DA}"/>
              </a:ext>
            </a:extLst>
          </p:cNvPr>
          <p:cNvSpPr txBox="1"/>
          <p:nvPr/>
        </p:nvSpPr>
        <p:spPr>
          <a:xfrm>
            <a:off x="8523604" y="4754183"/>
            <a:ext cx="2196533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行列式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29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3D6C6-7B5C-8C47-EA4A-1AB50103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160AD7E-1C84-C39A-C69B-6CF68A6EF228}"/>
              </a:ext>
            </a:extLst>
          </p:cNvPr>
          <p:cNvSpPr txBox="1"/>
          <p:nvPr/>
        </p:nvSpPr>
        <p:spPr>
          <a:xfrm>
            <a:off x="6715965" y="1070913"/>
            <a:ext cx="4723164" cy="5115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行列式不为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线性方程组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唯一解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（齐次线性方程组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只有零解）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（线性变换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是单射）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可逆（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是双射）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方阵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满秩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方阵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列向量组满秩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（方阵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列向量组线性无关）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列向量组构成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的一组基）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的列空间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行空间就是 </a:t>
            </a:r>
            <a:r>
              <a:rPr lang="en-US" altLang="zh-CN" sz="20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2000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8C38EB-3162-47F1-87FD-341666917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177" y="921464"/>
            <a:ext cx="5304823" cy="482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254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12B1-66A7-B937-4747-02793EB9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\documentclass{article}&#10;\usepackage{amsmath}&#10;\usepackage{bm}&#10;\pagestyle{empty}&#10;\begin{document}&#10;&#10;\begin{align}&#10;\det (A) \cdot \det (B) = \det (AB)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44849CAB-5380-1AC1-1337-D53679E1F68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67" y="3089964"/>
            <a:ext cx="3218670" cy="280541"/>
          </a:xfrm>
          <a:prstGeom prst="rect">
            <a:avLst/>
          </a:prstGeom>
        </p:spPr>
      </p:pic>
      <p:pic>
        <p:nvPicPr>
          <p:cNvPr id="262" name="图片 261">
            <a:extLst>
              <a:ext uri="{FF2B5EF4-FFF2-40B4-BE49-F238E27FC236}">
                <a16:creationId xmlns:a16="http://schemas.microsoft.com/office/drawing/2014/main" id="{9EE05A00-6647-52D4-C748-E095D76CFA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371" y="398079"/>
            <a:ext cx="7800993" cy="2727981"/>
          </a:xfrm>
          <a:prstGeom prst="rect">
            <a:avLst/>
          </a:prstGeom>
        </p:spPr>
      </p:pic>
      <p:pic>
        <p:nvPicPr>
          <p:cNvPr id="263" name="图片 262">
            <a:extLst>
              <a:ext uri="{FF2B5EF4-FFF2-40B4-BE49-F238E27FC236}">
                <a16:creationId xmlns:a16="http://schemas.microsoft.com/office/drawing/2014/main" id="{53BE22BD-F1D3-8875-B56D-11E6F35A1E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152"/>
          <a:stretch>
            <a:fillRect/>
          </a:stretch>
        </p:blipFill>
        <p:spPr>
          <a:xfrm>
            <a:off x="521371" y="3731941"/>
            <a:ext cx="7202903" cy="1934933"/>
          </a:xfrm>
          <a:prstGeom prst="rect">
            <a:avLst/>
          </a:prstGeom>
        </p:spPr>
      </p:pic>
      <p:pic>
        <p:nvPicPr>
          <p:cNvPr id="266" name="图片 265" descr="\documentclass{article}&#10;\usepackage{amsmath}&#10;\usepackage{bm}&#10;\pagestyle{empty}&#10;\begin{document}&#10;&#10;\begin{align}&#10;\det (A) \cdot \det (A^{-1}) = \det (I) = 1&#10;\nonumber&#10;\end{align}&#10;&#10;\end{document}" title="IguanaTex Bitmap Display">
            <a:extLst>
              <a:ext uri="{FF2B5EF4-FFF2-40B4-BE49-F238E27FC236}">
                <a16:creationId xmlns:a16="http://schemas.microsoft.com/office/drawing/2014/main" id="{BB190607-D261-6283-F721-C070D5C2E9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467" y="6028311"/>
            <a:ext cx="3729358" cy="31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28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663A9-4339-54A2-5BE5-43DE48C92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92C14FA-13C8-9806-F4B0-842E836212E2}"/>
              </a:ext>
            </a:extLst>
          </p:cNvPr>
          <p:cNvSpPr txBox="1"/>
          <p:nvPr/>
        </p:nvSpPr>
        <p:spPr>
          <a:xfrm>
            <a:off x="490520" y="318540"/>
            <a:ext cx="7775175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其他要点：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2E1A79-D1CD-8546-5194-F08337AE6E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58" b="26906"/>
          <a:stretch>
            <a:fillRect/>
          </a:stretch>
        </p:blipFill>
        <p:spPr>
          <a:xfrm>
            <a:off x="490520" y="1104513"/>
            <a:ext cx="11397823" cy="284184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45D4401-B1F2-BE82-4717-6749387D491D}"/>
              </a:ext>
            </a:extLst>
          </p:cNvPr>
          <p:cNvSpPr txBox="1"/>
          <p:nvPr/>
        </p:nvSpPr>
        <p:spPr>
          <a:xfrm>
            <a:off x="779493" y="4381125"/>
            <a:ext cx="10633013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“有向体积”是教材对行列式的定义（逆序数定义）背后更本质的东西，逆序数定义只是给出了行列式的通用公式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行列式的行与列是等价的，即行列式转置不改变行列式的值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克拉默法则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80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6B05-EEE3-4D05-35D8-5E169588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文本框 298">
            <a:extLst>
              <a:ext uri="{FF2B5EF4-FFF2-40B4-BE49-F238E27FC236}">
                <a16:creationId xmlns:a16="http://schemas.microsoft.com/office/drawing/2014/main" id="{E2422967-10AA-9711-46E0-726103214CF3}"/>
              </a:ext>
            </a:extLst>
          </p:cNvPr>
          <p:cNvSpPr txBox="1"/>
          <p:nvPr/>
        </p:nvSpPr>
        <p:spPr>
          <a:xfrm>
            <a:off x="490520" y="318540"/>
            <a:ext cx="7775175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行列式的计算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01" name="图片 300">
            <a:extLst>
              <a:ext uri="{FF2B5EF4-FFF2-40B4-BE49-F238E27FC236}">
                <a16:creationId xmlns:a16="http://schemas.microsoft.com/office/drawing/2014/main" id="{04943D48-7E65-0775-236F-0E07CB7DB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470" y="986691"/>
            <a:ext cx="5862010" cy="1969413"/>
          </a:xfrm>
          <a:prstGeom prst="rect">
            <a:avLst/>
          </a:prstGeom>
        </p:spPr>
      </p:pic>
      <p:sp>
        <p:nvSpPr>
          <p:cNvPr id="302" name="文本框 301">
            <a:extLst>
              <a:ext uri="{FF2B5EF4-FFF2-40B4-BE49-F238E27FC236}">
                <a16:creationId xmlns:a16="http://schemas.microsoft.com/office/drawing/2014/main" id="{FBEAF565-9B32-B3F9-384F-EF5B0AC8158D}"/>
              </a:ext>
            </a:extLst>
          </p:cNvPr>
          <p:cNvSpPr txBox="1"/>
          <p:nvPr/>
        </p:nvSpPr>
        <p:spPr>
          <a:xfrm>
            <a:off x="490520" y="986691"/>
            <a:ext cx="5348950" cy="1866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初等行列变换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目标：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去凑上（下）三角行列式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：观察行与行（列与列）之间的规律；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行与列的观察视角灵活转变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03" name="文本框 302">
            <a:extLst>
              <a:ext uri="{FF2B5EF4-FFF2-40B4-BE49-F238E27FC236}">
                <a16:creationId xmlns:a16="http://schemas.microsoft.com/office/drawing/2014/main" id="{B836DCD5-3927-6589-213E-4F93FADCCA98}"/>
              </a:ext>
            </a:extLst>
          </p:cNvPr>
          <p:cNvSpPr txBox="1"/>
          <p:nvPr/>
        </p:nvSpPr>
        <p:spPr>
          <a:xfrm>
            <a:off x="490520" y="3631324"/>
            <a:ext cx="5348950" cy="1880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按行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列展开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目标：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降阶，得到递推公式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关键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：观察整个行列式的形状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利用几乎全是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元素的行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列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04" name="图片 303">
            <a:extLst>
              <a:ext uri="{FF2B5EF4-FFF2-40B4-BE49-F238E27FC236}">
                <a16:creationId xmlns:a16="http://schemas.microsoft.com/office/drawing/2014/main" id="{BACD34FA-8C11-E29F-42C4-4ACAFE035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9470" y="3275933"/>
            <a:ext cx="5248261" cy="2952146"/>
          </a:xfrm>
          <a:prstGeom prst="rect">
            <a:avLst/>
          </a:prstGeom>
        </p:spPr>
      </p:pic>
      <p:sp>
        <p:nvSpPr>
          <p:cNvPr id="305" name="文本框 304">
            <a:extLst>
              <a:ext uri="{FF2B5EF4-FFF2-40B4-BE49-F238E27FC236}">
                <a16:creationId xmlns:a16="http://schemas.microsoft.com/office/drawing/2014/main" id="{7056DFF2-6EBF-E2F4-903A-E78C1774990D}"/>
              </a:ext>
            </a:extLst>
          </p:cNvPr>
          <p:cNvSpPr txBox="1"/>
          <p:nvPr/>
        </p:nvSpPr>
        <p:spPr>
          <a:xfrm>
            <a:off x="490520" y="5980286"/>
            <a:ext cx="5348950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其他：范德蒙行列式，分块降阶公式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3850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0.73866"/>
  <p:tag name="ORIGINALWIDTH" val="86.23921"/>
  <p:tag name="LATEXADDIN" val="\documentclass{article}&#10;\usepackage{amsmath}&#10;\pagestyle{empty}&#10;\begin{document}&#10;&#10;$O$&#10;&#10;&#10;\end{document}"/>
  <p:tag name="IGUANATEXSIZE" val="30"/>
  <p:tag name="IGUANATEXCURSOR" val="8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09.4863"/>
  <p:tag name="LATEXADDIN" val="\documentclass{article}&#10;\usepackage{amsmath}&#10;\pagestyle{empty}&#10;\begin{document}&#10;&#10;$x_1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.99063"/>
  <p:tag name="ORIGINALWIDTH" val="113.2358"/>
  <p:tag name="LATEXADDIN" val="\documentclass{article}&#10;\usepackage{amsmath}&#10;\pagestyle{empty}&#10;\begin{document}&#10;&#10;$x_3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3.49078"/>
  <p:tag name="ORIGINALWIDTH" val="112.4859"/>
  <p:tag name="LATEXADDIN" val="\documentclass{article}&#10;\usepackage{amsmath}&#10;\pagestyle{empty}&#10;\begin{document}&#10;&#10;$x_2$&#10;&#10;&#10;\end{document}"/>
  <p:tag name="IGUANATEXSIZE" val="30"/>
  <p:tag name="IGUANATEXCURSOR" val="8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2.2347"/>
  <p:tag name="LATEXADDIN" val="\documentclass{article}&#10;\usepackage{amsmath}&#10;\usepackage{bm}&#10;\pagestyle{empty}&#10;\begin{document}&#10;&#10;\begin{align}&#10;\bm{\beta}_1&#10;\nonumber&#10;\end{align}&#10;&#10;\end{document}"/>
  <p:tag name="IGUANATEXSIZE" val="30"/>
  <p:tag name="IGUANATEXCURSOR" val="12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2343"/>
  <p:tag name="LATEXADDIN" val="\documentclass{article}&#10;\usepackage{amsmath}&#10;\usepackage{bm}&#10;\pagestyle{empty}&#10;\begin{document}&#10;&#10;\begin{align}&#10;\bm{\beta}_2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.9861"/>
  <p:tag name="ORIGINALWIDTH" val="125.9843"/>
  <p:tag name="LATEXADDIN" val="\documentclass{article}&#10;\usepackage{amsmath}&#10;\usepackage{bm}&#10;\pagestyle{empty}&#10;\begin{document}&#10;&#10;\begin{align}&#10;\bm{\beta}_3&#10;\nonumber&#10;\end{align}&#10;&#10;\end{document}"/>
  <p:tag name="IGUANATEXSIZE" val="30"/>
  <p:tag name="IGUANATEXCURSOR" val="12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391.4511"/>
  <p:tag name="LATEXADDIN" val="\documentclass{article}&#10;\usepackage{amsmath}&#10;\usepackage{bm}&#10;\pagestyle{empty}&#10;\begin{document}&#10;&#10;\begin{align}&#10;\det (\bm{\beta}_1)&#10;\nonumber&#10;\end{align}&#10;&#10;\end{document}"/>
  <p:tag name="IGUANATEXSIZE" val="30"/>
  <p:tag name="IGUANATEXCURSOR" val="13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584.9269"/>
  <p:tag name="LATEXADDIN" val="\documentclass{article}&#10;\usepackage{amsmath}&#10;\usepackage{bm}&#10;\pagestyle{empty}&#10;\begin{document}&#10;&#10;\begin{align}&#10;\det (\bm{\beta}_1, \bm{\beta}_2)&#10;\nonumber&#10;\end{align}&#10;&#10;\end{document}"/>
  <p:tag name="IGUANATEXSIZE" val="30"/>
  <p:tag name="IGUANATEXCURSOR" val="143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778.4026"/>
  <p:tag name="LATEXADDIN" val="\documentclass{article}&#10;\usepackage{amsmath}&#10;\usepackage{bm}&#10;\pagestyle{empty}&#10;\begin{document}&#10;&#10;\begin{align}&#10;\det (\bm{\beta}_1, \bm{\beta}_2, \bm{\beta}_3)&#10;\nonumber&#10;\end{align}&#10;&#10;\end{document}"/>
  <p:tag name="IGUANATEXSIZE" val="30"/>
  <p:tag name="IGUANATEXCURSOR" val="14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436.82"/>
  <p:tag name="LATEXADDIN" val="\documentclass{article}&#10;\usepackage{amsmath}&#10;\usepackage{bm}&#10;\pagestyle{empty}&#10;\begin{document}&#10;&#10;\begin{align}&#10;\det (A) \cdot \det (B) = \det (AB)&#10;\nonumber&#10;\end{align}&#10;&#10;\end{document}"/>
  <p:tag name="IGUANATEXSIZE" val="30"/>
  <p:tag name="IGUANATEXCURSOR" val="14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40.9824"/>
  <p:tag name="ORIGINALWIDTH" val="1664.792"/>
  <p:tag name="LATEXADDIN" val="\documentclass{article}&#10;\usepackage{amsmath}&#10;\usepackage{bm}&#10;\pagestyle{empty}&#10;\begin{document}&#10;&#10;\begin{align}&#10;\det (A) \cdot \det (A^{-1}) = \det (I) = 1&#10;\nonumber&#10;\end{align}&#10;&#10;\end{document}"/>
  <p:tag name="IGUANATEXSIZE" val="30"/>
  <p:tag name="IGUANATEXCURSOR" val="154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</TotalTime>
  <Words>296</Words>
  <Application>Microsoft Office PowerPoint</Application>
  <PresentationFormat>宽屏</PresentationFormat>
  <Paragraphs>34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等线</vt:lpstr>
      <vt:lpstr>等线 Light</vt:lpstr>
      <vt:lpstr>黑体</vt:lpstr>
      <vt:lpstr>宋体</vt:lpstr>
      <vt:lpstr>Arial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lrj</dc:creator>
  <cp:lastModifiedBy>lrj</cp:lastModifiedBy>
  <cp:revision>12</cp:revision>
  <dcterms:created xsi:type="dcterms:W3CDTF">2025-10-26T00:13:23Z</dcterms:created>
  <dcterms:modified xsi:type="dcterms:W3CDTF">2026-04-11T10:14:20Z</dcterms:modified>
</cp:coreProperties>
</file>